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8" r:id="rId3"/>
    <p:sldId id="269" r:id="rId4"/>
    <p:sldId id="270" r:id="rId5"/>
    <p:sldId id="263" r:id="rId6"/>
    <p:sldId id="271" r:id="rId7"/>
    <p:sldId id="272" r:id="rId8"/>
    <p:sldId id="261" r:id="rId9"/>
    <p:sldId id="262" r:id="rId10"/>
    <p:sldId id="267" r:id="rId11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081C7"/>
    <a:srgbClr val="005500"/>
    <a:srgbClr val="FF91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9D6F5-A9D4-C22B-732C-A31A172FB9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209393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1AFD6E-3459-290F-1147-F0C47ACEEA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46774"/>
            <a:ext cx="9144000" cy="106689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 cap="all" spc="300" baseline="0"/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4674D3-6FB9-5549-B0F2-FD61E82D1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E39B8-A7CB-4B82-AC0C-44B99F546761}" type="datetimeFigureOut">
              <a:rPr lang="en-US" dirty="0"/>
              <a:t>3/14/2026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239BBC-C979-2C77-493E-CF5498AEB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813B7E-A51C-D9CD-2189-650A9D63B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902160"/>
      </p:ext>
    </p:extLst>
  </p:cSld>
  <p:clrMapOvr>
    <a:masterClrMapping/>
  </p:clrMapOvr>
  <p:hf sldNum="0" hdr="0" ftr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155F0-A6D4-C39B-394F-0B16E9C9C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D1860F-B260-57CE-E12B-2C94860319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745C9F-D94D-E5D3-B73A-20621FA536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E3940-CA92-4FEE-A698-62CF7BC5AC36}" type="datetimeFigureOut">
              <a:rPr lang="en-US" dirty="0"/>
              <a:t>3/14/2026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FAB243-BB42-966A-4708-15C9B11D6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C3A3BD-2CC5-03D3-4CD6-E31A55BA2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006453"/>
      </p:ext>
    </p:extLst>
  </p:cSld>
  <p:clrMapOvr>
    <a:masterClrMapping/>
  </p:clrMapOvr>
  <p:hf sldNum="0"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D8633-AC3B-E617-1C54-84932DDD7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4236" y="1514688"/>
            <a:ext cx="8584164" cy="3138875"/>
          </a:xfrm>
        </p:spPr>
        <p:txBody>
          <a:bodyPr anchor="b">
            <a:normAutofit/>
          </a:bodyPr>
          <a:lstStyle>
            <a:lvl1pPr>
              <a:defRPr sz="3600" cap="all" spc="30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68C242-ECAB-AEC3-7E9B-F9854AF31C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74236" y="4963885"/>
            <a:ext cx="8584165" cy="1125765"/>
          </a:xfrm>
        </p:spPr>
        <p:txBody>
          <a:bodyPr>
            <a:normAutofit/>
          </a:bodyPr>
          <a:lstStyle>
            <a:lvl1pPr marL="0" indent="0">
              <a:buNone/>
              <a:defRPr sz="1600" cap="all" spc="300" baseline="0">
                <a:solidFill>
                  <a:schemeClr val="tx2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0D9B82-EEF4-2CD7-61FE-BAFB2B96D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CD641-6C35-45D1-9313-2719E9EA8AD8}" type="datetimeFigureOut">
              <a:rPr lang="en-US" dirty="0"/>
              <a:t>3/14/2026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A222B6-F7A8-70A5-B023-FCAD5D7C4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85D758-2E38-8A8D-75BC-667F6A23B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8692522"/>
      </p:ext>
    </p:extLst>
  </p:cSld>
  <p:clrMapOvr>
    <a:masterClrMapping/>
  </p:clrMapOvr>
  <p:hf sldNum="0" hdr="0" ft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60DFF-11BD-F5F4-35D4-1986ABBD36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5D1279-E9A9-702E-144D-61114B788E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77824" y="2159175"/>
            <a:ext cx="4977453" cy="40177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84E624-7A76-56EC-FA0D-E2AA8EF9B9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28391" y="2159175"/>
            <a:ext cx="4985785" cy="40177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9D7DF5-30AD-AE47-D516-5CEE82770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01268-3A74-4110-8F08-063DFB8BB885}" type="datetimeFigureOut">
              <a:rPr lang="en-US" dirty="0"/>
              <a:t>3/14/2026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05C503-B649-B083-6341-F6E376AF8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53EA35-CF5A-DB36-8B14-5C184B6F1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024920"/>
      </p:ext>
    </p:extLst>
  </p:cSld>
  <p:clrMapOvr>
    <a:masterClrMapping/>
  </p:clrMapOvr>
  <p:hf sldNum="0" hdr="0" ft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BA3D8-FDD9-329B-BCC6-BBF47F01BE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1348" y="602671"/>
            <a:ext cx="10429303" cy="76892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EEF7DC-0699-CB3C-A7CB-39035D89A4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81349" y="1696325"/>
            <a:ext cx="4963538" cy="647700"/>
          </a:xfrm>
        </p:spPr>
        <p:txBody>
          <a:bodyPr anchor="b">
            <a:noAutofit/>
          </a:bodyPr>
          <a:lstStyle>
            <a:lvl1pPr marL="0" indent="0">
              <a:buNone/>
              <a:defRPr sz="1400" b="1" cap="all" spc="300" baseline="0"/>
            </a:lvl1pPr>
            <a:lvl2pPr marL="457200" indent="0">
              <a:buNone/>
              <a:defRPr sz="1400" b="1"/>
            </a:lvl2pPr>
            <a:lvl3pPr marL="914400" indent="0">
              <a:buNone/>
              <a:defRPr sz="1400" b="1"/>
            </a:lvl3pPr>
            <a:lvl4pPr marL="1371600" indent="0">
              <a:buNone/>
              <a:defRPr sz="1400" b="1"/>
            </a:lvl4pPr>
            <a:lvl5pPr marL="1828800" indent="0">
              <a:buNone/>
              <a:defRPr sz="1400" b="1"/>
            </a:lvl5pPr>
            <a:lvl6pPr marL="2286000" indent="0">
              <a:buNone/>
              <a:defRPr sz="1400" b="1"/>
            </a:lvl6pPr>
            <a:lvl7pPr marL="2743200" indent="0">
              <a:buNone/>
              <a:defRPr sz="1400" b="1"/>
            </a:lvl7pPr>
            <a:lvl8pPr marL="3200400" indent="0">
              <a:buNone/>
              <a:defRPr sz="1400" b="1"/>
            </a:lvl8pPr>
            <a:lvl9pPr marL="3657600" indent="0">
              <a:buNone/>
              <a:defRPr sz="1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52EB40-99E1-CCA4-BAFA-F51AA56CF2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81349" y="2344025"/>
            <a:ext cx="4963538" cy="38333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8979BC-6B50-751D-D569-F360938B05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22669" y="1696325"/>
            <a:ext cx="4987982" cy="647700"/>
          </a:xfrm>
        </p:spPr>
        <p:txBody>
          <a:bodyPr anchor="b">
            <a:noAutofit/>
          </a:bodyPr>
          <a:lstStyle>
            <a:lvl1pPr marL="0" indent="0">
              <a:buNone/>
              <a:defRPr sz="1400" b="1" cap="all" spc="300" baseline="0"/>
            </a:lvl1pPr>
            <a:lvl2pPr marL="457200" indent="0">
              <a:buNone/>
              <a:defRPr sz="1400" b="1"/>
            </a:lvl2pPr>
            <a:lvl3pPr marL="914400" indent="0">
              <a:buNone/>
              <a:defRPr sz="1400" b="1"/>
            </a:lvl3pPr>
            <a:lvl4pPr marL="1371600" indent="0">
              <a:buNone/>
              <a:defRPr sz="1400" b="1"/>
            </a:lvl4pPr>
            <a:lvl5pPr marL="1828800" indent="0">
              <a:buNone/>
              <a:defRPr sz="1400" b="1"/>
            </a:lvl5pPr>
            <a:lvl6pPr marL="2286000" indent="0">
              <a:buNone/>
              <a:defRPr sz="1400" b="1"/>
            </a:lvl6pPr>
            <a:lvl7pPr marL="2743200" indent="0">
              <a:buNone/>
              <a:defRPr sz="1400" b="1"/>
            </a:lvl7pPr>
            <a:lvl8pPr marL="3200400" indent="0">
              <a:buNone/>
              <a:defRPr sz="1400" b="1"/>
            </a:lvl8pPr>
            <a:lvl9pPr marL="3657600" indent="0">
              <a:buNone/>
              <a:defRPr sz="1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A3A26F-230E-2D25-6BDC-6ECA00FAEF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22669" y="2344025"/>
            <a:ext cx="4987982" cy="38333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8182A01-DE7C-3BA4-96FF-CDEF2F608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1C1AF-C1FB-48A7-98B4-E595E63F6614}" type="datetimeFigureOut">
              <a:rPr lang="en-US" dirty="0"/>
              <a:t>3/14/2026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CAA828-0166-8ECD-BCE8-654BEFDD7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690C0D2-459A-04AA-FD90-7687D2FE8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870756"/>
      </p:ext>
    </p:extLst>
  </p:cSld>
  <p:clrMapOvr>
    <a:masterClrMapping/>
  </p:clrMapOvr>
  <p:hf sldNum="0"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D549F-FA71-857F-E02E-3CB63CE68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569611-F911-D3D4-B613-ACCDA56C4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44C44-5F8C-4BEA-BBCE-8694F126DC43}" type="datetimeFigureOut">
              <a:rPr lang="en-US" dirty="0"/>
              <a:t>3/14/2026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EA1961-0B6B-8FEB-F2CB-C42E90EF2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2AA80E-3139-9F1B-9C3E-2A76628CF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335285"/>
      </p:ext>
    </p:extLst>
  </p:cSld>
  <p:clrMapOvr>
    <a:masterClrMapping/>
  </p:clrMapOvr>
  <p:hf sldNum="0" hdr="0" ft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F54789-9F96-511A-0FB6-24F6A8418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E56F9-C8F2-4EF7-8042-704C94FF2795}" type="datetimeFigureOut">
              <a:rPr lang="en-US" dirty="0"/>
              <a:t>3/14/2026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780399-ADEF-8F74-9F59-6AD804C93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B6A34F-ABAB-9C4E-38A1-C6EEB944B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781425"/>
      </p:ext>
    </p:extLst>
  </p:cSld>
  <p:clrMapOvr>
    <a:masterClrMapping/>
  </p:clrMapOvr>
  <p:hf sldNum="0" hdr="0" ft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E3917-2BF6-1CE2-F34B-49F0D09A1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807868"/>
            <a:ext cx="3640713" cy="2062594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815B8F-A9F3-8583-FFF1-175021F17A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2898" y="807867"/>
            <a:ext cx="5922489" cy="505318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D90AFF-A949-CE9E-6B94-C1B6196129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000652"/>
            <a:ext cx="3640713" cy="2868336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95267E-088F-FB9A-9469-551890F29F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932DF-953D-44BD-83F8-5D8DA76EA12A}" type="datetimeFigureOut">
              <a:rPr lang="en-US" dirty="0"/>
              <a:t>3/14/2026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EA3FFC-B3A6-C0B6-5DAE-70BE0D6FB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08D35F-BC2E-8D14-060F-449CBAF7C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3455344"/>
      </p:ext>
    </p:extLst>
  </p:cSld>
  <p:clrMapOvr>
    <a:masterClrMapping/>
  </p:clrMapOvr>
  <p:hf sldNum="0" hdr="0" ft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909ED-ED97-A3CE-5569-77B45F414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820881"/>
            <a:ext cx="3639312" cy="206259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683BB3A-9E24-DE4C-9619-1502F1B6F389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247408" y="919595"/>
            <a:ext cx="6107979" cy="5013614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B4CE1F-29E0-88BB-8489-E58236B8B1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000652"/>
            <a:ext cx="3643889" cy="2868336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4B7212-6816-FFD1-50B2-58844AD38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F326D-65F4-4B2F-9A62-9E4BD9402C47}" type="datetimeFigureOut">
              <a:rPr lang="en-US" dirty="0"/>
              <a:t>3/14/2026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417744-5A24-B7B7-5FD6-E98E60832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CDA4D1-A71D-A7A6-3D0C-294E5D280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25883"/>
      </p:ext>
    </p:extLst>
  </p:cSld>
  <p:clrMapOvr>
    <a:masterClrMapping/>
  </p:clrMapOvr>
  <p:hf sldNum="0" hdr="0" ft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990AE-F72C-4C2E-E2D0-7A8D7EEF0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41B46D-142E-8C8E-C4F4-B6B1586A6F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4D92E3-36AD-2615-0166-6B73C34F1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42F6F-0846-489A-A4BC-61B476BE2887}" type="datetimeFigureOut">
              <a:rPr lang="en-US" dirty="0"/>
              <a:t>3/14/2026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0BFB69-319D-2284-2734-217160D39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6883B0-C775-5BD2-8EC6-A41D19BCA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31155"/>
      </p:ext>
    </p:extLst>
  </p:cSld>
  <p:clrMapOvr>
    <a:masterClrMapping/>
  </p:clrMapOvr>
  <p:hf sldNum="0" hdr="0" ft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040463-6D41-8D45-088A-540B0D1883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592281"/>
            <a:ext cx="2628900" cy="558468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5F2276-7F04-F3F7-E3CE-F81C8DC637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92281"/>
            <a:ext cx="7734300" cy="558468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1802BF-9E0C-3251-8FAE-81F07DB05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9DF21-A340-467A-94AB-9502647BB771}" type="datetimeFigureOut">
              <a:rPr lang="en-US" dirty="0"/>
              <a:t>3/14/2026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9F1754-5B8F-A9FA-E8B1-06E04CE28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01E6A8-5139-ECD4-CC0C-32FFC6741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6332101"/>
      </p:ext>
    </p:extLst>
  </p:cSld>
  <p:clrMapOvr>
    <a:masterClrMapping/>
  </p:clrMapOvr>
  <p:hf sldNum="0" hdr="0" ftr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5858A62-FE72-978B-BE71-05908D82E1A4}"/>
              </a:ext>
            </a:extLst>
          </p:cNvPr>
          <p:cNvSpPr/>
          <p:nvPr/>
        </p:nvSpPr>
        <p:spPr>
          <a:xfrm>
            <a:off x="0" y="0"/>
            <a:ext cx="12192000" cy="6860161"/>
          </a:xfrm>
          <a:prstGeom prst="rect">
            <a:avLst/>
          </a:prstGeom>
          <a:solidFill>
            <a:schemeClr val="bg2">
              <a:lumMod val="75000"/>
              <a:alpha val="15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HK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FA14B7-4740-5D9F-6489-BAD00C3E0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1108" y="588245"/>
            <a:ext cx="10449784" cy="12659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90487F-803F-C5AF-BD93-39C0FC7389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77824" y="2157984"/>
            <a:ext cx="10442448" cy="39038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86FCEF-4EDF-C2EF-7D81-FEFF7042F3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77824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spc="300" baseline="0">
                <a:solidFill>
                  <a:schemeClr val="tx2"/>
                </a:solidFill>
              </a:defRPr>
            </a:lvl1pPr>
          </a:lstStyle>
          <a:p>
            <a:fld id="{F9B0CB28-85DB-480B-8C99-FD493ACC7120}" type="datetimeFigureOut">
              <a:rPr lang="en-US" dirty="0"/>
              <a:t>3/14/2026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4663BC-4D46-C74D-DDF2-9D25B4D96F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132320" y="6356350"/>
            <a:ext cx="42976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cap="all" spc="3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1B4EAE-CB5C-D14B-77EF-7B155FA683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9999" y="6356350"/>
            <a:ext cx="521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tx2"/>
                </a:solidFill>
                <a:latin typeface="+mj-lt"/>
              </a:defRPr>
            </a:lvl1pPr>
          </a:lstStyle>
          <a:p>
            <a:fld id="{5E4DE196-8A13-4FF7-A07E-102851959EAB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94687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2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2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  <p15:guide id="5" orient="horz" pos="3816">
          <p15:clr>
            <a:srgbClr val="F26B43"/>
          </p15:clr>
        </p15:guide>
        <p15:guide id="6" orient="horz" pos="117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oodwasterecycling.hk/Smart_Bin_Locations.pdf" TargetMode="External"/><Relationship Id="rId7" Type="http://schemas.openxmlformats.org/officeDocument/2006/relationships/hyperlink" Target="https://www.un.org/en/development/desa/policy/wesp/wesp_current/2014wesp_country_classification.pdf" TargetMode="External"/><Relationship Id="rId2" Type="http://schemas.openxmlformats.org/officeDocument/2006/relationships/hyperlink" Target="https://www.wastereduction.gov.hk/en-hk/waste-reduction-programme/greencommunity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kaggle.com/datasets/atharvasoundankar/global-food-wastage-dataset-2018-2024/data" TargetMode="External"/><Relationship Id="rId5" Type="http://schemas.openxmlformats.org/officeDocument/2006/relationships/hyperlink" Target="https://wedocs.unep.org/handle/20.500.11822/45230" TargetMode="External"/><Relationship Id="rId4" Type="http://schemas.openxmlformats.org/officeDocument/2006/relationships/hyperlink" Target="https://www.epd.gov.hk/epd/english/environmentinhk/waste/prob_solutions/food_waste_challenge.html" TargetMode="Externa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134C4A1-969E-4797-1462-E162DE81E1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7212" y="0"/>
            <a:ext cx="12263004" cy="6858000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1206" y="113834"/>
            <a:ext cx="12180794" cy="331877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sz="4800" b="1">
                <a:solidFill>
                  <a:srgbClr val="00557F"/>
                </a:solidFill>
                <a:latin typeface="Gill Sans MT"/>
                <a:ea typeface="+mj-lt"/>
                <a:cs typeface="+mj-lt"/>
              </a:rPr>
              <a:t>Data Visualization - Global Food Wastage</a:t>
            </a:r>
            <a:endParaRPr lang="en-US" sz="4800"/>
          </a:p>
        </p:txBody>
      </p:sp>
    </p:spTree>
    <p:extLst>
      <p:ext uri="{BB962C8B-B14F-4D97-AF65-F5344CB8AC3E}">
        <p14:creationId xmlns:p14="http://schemas.microsoft.com/office/powerpoint/2010/main" val="25921299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4CFC56A-8816-D4B6-E016-ABC18EF855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zh-TW" b="1">
                <a:solidFill>
                  <a:srgbClr val="005500"/>
                </a:solidFill>
                <a:latin typeface="Dubai"/>
                <a:cs typeface="Times New Roman"/>
              </a:rPr>
              <a:t>Table of Contents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E491E7A-6CCA-E3F7-560E-FAB72A60B7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1198" y="1435741"/>
            <a:ext cx="10449074" cy="46260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TW" altLang="en-US" sz="2400">
                <a:solidFill>
                  <a:srgbClr val="35403A"/>
                </a:solidFill>
                <a:latin typeface="Calibri"/>
                <a:ea typeface="+mj-lt"/>
                <a:cs typeface="Calibri"/>
              </a:rPr>
              <a:t>Background</a:t>
            </a:r>
          </a:p>
          <a:p>
            <a:r>
              <a:rPr lang="zh-TW" altLang="en-US" sz="2400">
                <a:solidFill>
                  <a:srgbClr val="35403A"/>
                </a:solidFill>
                <a:latin typeface="Calibri"/>
                <a:ea typeface="+mj-lt"/>
                <a:cs typeface="Calibri"/>
              </a:rPr>
              <a:t>Objective</a:t>
            </a:r>
          </a:p>
          <a:p>
            <a:r>
              <a:rPr lang="zh-TW" altLang="en-US" sz="2400">
                <a:solidFill>
                  <a:srgbClr val="35403A"/>
                </a:solidFill>
                <a:latin typeface="Calibri"/>
                <a:ea typeface="+mj-lt"/>
                <a:cs typeface="Calibri"/>
              </a:rPr>
              <a:t>Methodology</a:t>
            </a:r>
          </a:p>
          <a:p>
            <a:r>
              <a:rPr lang="zh-TW" altLang="en-US" sz="2400">
                <a:solidFill>
                  <a:srgbClr val="35403A"/>
                </a:solidFill>
                <a:latin typeface="Calibri"/>
                <a:ea typeface="+mj-lt"/>
                <a:cs typeface="Calibri"/>
              </a:rPr>
              <a:t>Highlight 1</a:t>
            </a:r>
          </a:p>
          <a:p>
            <a:r>
              <a:rPr lang="zh-TW" altLang="en-US" sz="2400">
                <a:solidFill>
                  <a:srgbClr val="35403A"/>
                </a:solidFill>
                <a:latin typeface="Calibri"/>
                <a:ea typeface="+mj-lt"/>
                <a:cs typeface="Calibri"/>
              </a:rPr>
              <a:t>Highlight 2</a:t>
            </a:r>
          </a:p>
          <a:p>
            <a:r>
              <a:rPr lang="zh-TW" altLang="en-US" sz="2400">
                <a:solidFill>
                  <a:srgbClr val="35403A"/>
                </a:solidFill>
                <a:latin typeface="Calibri"/>
                <a:ea typeface="+mj-lt"/>
                <a:cs typeface="Calibri"/>
              </a:rPr>
              <a:t>Conclusion</a:t>
            </a:r>
          </a:p>
          <a:p>
            <a:r>
              <a:rPr lang="zh-TW" altLang="en-US" sz="2400">
                <a:solidFill>
                  <a:srgbClr val="35403A"/>
                </a:solidFill>
                <a:latin typeface="Calibri"/>
                <a:ea typeface="+mj-lt"/>
                <a:cs typeface="Calibri"/>
              </a:rPr>
              <a:t>Reference</a:t>
            </a:r>
          </a:p>
          <a:p>
            <a:r>
              <a:rPr lang="zh-TW" altLang="en-US" sz="2400">
                <a:solidFill>
                  <a:srgbClr val="35403A"/>
                </a:solidFill>
                <a:latin typeface="Calibri"/>
                <a:ea typeface="+mj-lt"/>
                <a:cs typeface="Calibri"/>
              </a:rPr>
              <a:t>Q &amp; A</a:t>
            </a:r>
          </a:p>
          <a:p>
            <a:endParaRPr lang="zh-TW" altLang="en-US">
              <a:latin typeface="Calibri"/>
              <a:ea typeface="新細明體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55400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D8F6E6-7156-BCC8-D502-B57D451FD3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標題 1">
            <a:extLst>
              <a:ext uri="{FF2B5EF4-FFF2-40B4-BE49-F238E27FC236}">
                <a16:creationId xmlns:a16="http://schemas.microsoft.com/office/drawing/2014/main" id="{301E4507-B221-2A52-7BB4-C22395313B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020" y="453774"/>
            <a:ext cx="10449784" cy="126592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TW" b="1">
                <a:solidFill>
                  <a:srgbClr val="005500"/>
                </a:solidFill>
                <a:latin typeface="Dubai"/>
                <a:cs typeface="Dubai"/>
              </a:rPr>
              <a:t>Background - Food waste in Hong Kong</a:t>
            </a:r>
            <a:endParaRPr lang="zh-TW" altLang="en-US" b="1">
              <a:solidFill>
                <a:srgbClr val="005500"/>
              </a:solidFill>
              <a:latin typeface="Dubai"/>
              <a:cs typeface="Dubai"/>
            </a:endParaRPr>
          </a:p>
        </p:txBody>
      </p:sp>
      <p:pic>
        <p:nvPicPr>
          <p:cNvPr id="23" name="圖片 7" descr="一張含有 文字, 垃圾桶, 簽名、標誌 的圖片&#10;&#10;AI 產生的內容可能不正確。">
            <a:extLst>
              <a:ext uri="{FF2B5EF4-FFF2-40B4-BE49-F238E27FC236}">
                <a16:creationId xmlns:a16="http://schemas.microsoft.com/office/drawing/2014/main" id="{DBB5D048-9E50-7D61-7F66-EB736E2852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2468" y="1464915"/>
            <a:ext cx="1601765" cy="261038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5" name="文字方塊 8">
            <a:extLst>
              <a:ext uri="{FF2B5EF4-FFF2-40B4-BE49-F238E27FC236}">
                <a16:creationId xmlns:a16="http://schemas.microsoft.com/office/drawing/2014/main" id="{FA946307-0C91-55C1-A470-DD1D00FE492A}"/>
              </a:ext>
            </a:extLst>
          </p:cNvPr>
          <p:cNvSpPr txBox="1"/>
          <p:nvPr/>
        </p:nvSpPr>
        <p:spPr>
          <a:xfrm>
            <a:off x="325326" y="1423068"/>
            <a:ext cx="7961633" cy="333168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spcAft>
                <a:spcPts val="500"/>
              </a:spcAft>
              <a:buFont typeface="Arial"/>
              <a:buChar char="•"/>
            </a:pPr>
            <a:r>
              <a:rPr lang="zh-TW" sz="2200">
                <a:latin typeface="Calibri"/>
                <a:cs typeface="Times New Roman"/>
              </a:rPr>
              <a:t>82 Recycling Stores (綠</a:t>
            </a:r>
            <a:r>
              <a:rPr lang="zh-TW" altLang="en-US" sz="2200">
                <a:latin typeface="Calibri"/>
                <a:cs typeface="Times New Roman"/>
              </a:rPr>
              <a:t>在區區回收環保站</a:t>
            </a:r>
            <a:r>
              <a:rPr lang="zh-TW" sz="2200">
                <a:latin typeface="Calibri"/>
                <a:cs typeface="Times New Roman"/>
              </a:rPr>
              <a:t>)</a:t>
            </a:r>
            <a:r>
              <a:rPr lang="zh-TW" altLang="en-US" sz="2200">
                <a:latin typeface="Calibri"/>
                <a:cs typeface="Times New Roman"/>
              </a:rPr>
              <a:t> in Hong Kong [1]</a:t>
            </a:r>
            <a:br>
              <a:rPr lang="zh-TW" altLang="en-US" sz="2200">
                <a:latin typeface="Calibri"/>
                <a:cs typeface="Times New Roman"/>
              </a:rPr>
            </a:br>
            <a:endParaRPr lang="zh-TW" sz="2200">
              <a:latin typeface="Calibri"/>
              <a:cs typeface="Times New Roman"/>
            </a:endParaRPr>
          </a:p>
          <a:p>
            <a:pPr marL="285750" indent="-285750">
              <a:spcAft>
                <a:spcPts val="500"/>
              </a:spcAft>
              <a:buFont typeface="Arial"/>
              <a:buChar char="•"/>
            </a:pPr>
            <a:r>
              <a:rPr lang="zh-TW" sz="2200" b="1">
                <a:latin typeface="Calibri"/>
                <a:cs typeface="Times New Roman"/>
              </a:rPr>
              <a:t>smart </a:t>
            </a:r>
            <a:r>
              <a:rPr lang="en-US" altLang="zh-TW" sz="2200" b="1">
                <a:latin typeface="Calibri"/>
                <a:ea typeface="Calibri"/>
                <a:cs typeface="Times New Roman"/>
              </a:rPr>
              <a:t>food</a:t>
            </a:r>
            <a:r>
              <a:rPr lang="zh-TW" altLang="en-US" sz="2200" b="1">
                <a:latin typeface="Calibri"/>
                <a:cs typeface="Times New Roman"/>
              </a:rPr>
              <a:t> </a:t>
            </a:r>
            <a:r>
              <a:rPr lang="en-US" altLang="zh-TW" sz="2200" b="1">
                <a:latin typeface="Calibri"/>
                <a:ea typeface="Calibri"/>
                <a:cs typeface="Times New Roman"/>
              </a:rPr>
              <a:t>waste</a:t>
            </a:r>
            <a:r>
              <a:rPr lang="zh-TW" altLang="en-US" sz="2200" b="1">
                <a:latin typeface="Calibri"/>
                <a:cs typeface="Times New Roman"/>
              </a:rPr>
              <a:t> </a:t>
            </a:r>
            <a:r>
              <a:rPr lang="en-US" altLang="zh-TW" sz="2200" b="1">
                <a:latin typeface="Calibri"/>
                <a:ea typeface="Calibri"/>
                <a:cs typeface="Times New Roman"/>
              </a:rPr>
              <a:t>recycling</a:t>
            </a:r>
            <a:r>
              <a:rPr lang="zh-TW" altLang="en-US" sz="2200" b="1">
                <a:latin typeface="Calibri"/>
                <a:cs typeface="Times New Roman"/>
              </a:rPr>
              <a:t> </a:t>
            </a:r>
            <a:r>
              <a:rPr lang="zh-TW" sz="2200" b="1">
                <a:latin typeface="Calibri"/>
                <a:cs typeface="Times New Roman"/>
              </a:rPr>
              <a:t>bins</a:t>
            </a:r>
            <a:r>
              <a:rPr lang="zh-TW" sz="2200">
                <a:latin typeface="Calibri"/>
                <a:cs typeface="Times New Roman"/>
              </a:rPr>
              <a:t> in</a:t>
            </a:r>
            <a:r>
              <a:rPr lang="en-US" altLang="zh-TW" sz="2200">
                <a:latin typeface="Calibri"/>
                <a:ea typeface="Calibri"/>
                <a:cs typeface="Times New Roman"/>
              </a:rPr>
              <a:t>stalled</a:t>
            </a:r>
            <a:r>
              <a:rPr lang="zh-TW" altLang="en-US" sz="2200">
                <a:latin typeface="Calibri"/>
                <a:cs typeface="Times New Roman"/>
              </a:rPr>
              <a:t> </a:t>
            </a:r>
            <a:r>
              <a:rPr lang="en-US" altLang="zh-TW" sz="2200">
                <a:latin typeface="Calibri"/>
                <a:ea typeface="Calibri"/>
                <a:cs typeface="Times New Roman"/>
              </a:rPr>
              <a:t>in</a:t>
            </a:r>
            <a:r>
              <a:rPr lang="zh-TW" altLang="en-US" sz="2200">
                <a:latin typeface="Calibri"/>
                <a:cs typeface="Times New Roman"/>
              </a:rPr>
              <a:t> </a:t>
            </a:r>
            <a:r>
              <a:rPr lang="en-US" altLang="zh-TW" sz="2200" b="1">
                <a:latin typeface="Calibri"/>
                <a:ea typeface="Calibri"/>
                <a:cs typeface="Times New Roman"/>
              </a:rPr>
              <a:t>251</a:t>
            </a:r>
            <a:r>
              <a:rPr lang="zh-TW" sz="2200" b="1">
                <a:latin typeface="Calibri"/>
                <a:cs typeface="Times New Roman"/>
              </a:rPr>
              <a:t> public housing estates</a:t>
            </a:r>
            <a:r>
              <a:rPr lang="zh-TW" altLang="en-US" sz="2200">
                <a:latin typeface="Calibri"/>
                <a:cs typeface="Times New Roman"/>
              </a:rPr>
              <a:t> [2]</a:t>
            </a:r>
            <a:br>
              <a:rPr lang="zh-TW" altLang="en-US" sz="2200">
                <a:latin typeface="Calibri"/>
                <a:cs typeface="Times New Roman"/>
              </a:rPr>
            </a:br>
            <a:endParaRPr lang="en-US" altLang="zh-TW" sz="2200">
              <a:latin typeface="Calibri"/>
              <a:ea typeface="Calibri"/>
              <a:cs typeface="Times New Roman"/>
            </a:endParaRPr>
          </a:p>
          <a:p>
            <a:pPr marL="285750" indent="-285750">
              <a:spcAft>
                <a:spcPts val="500"/>
              </a:spcAft>
              <a:buFont typeface="Arial"/>
              <a:buChar char="•"/>
            </a:pPr>
            <a:r>
              <a:rPr lang="en-US" altLang="zh-TW" sz="2200">
                <a:latin typeface="Calibri"/>
                <a:ea typeface="Calibri"/>
                <a:cs typeface="Times New Roman"/>
              </a:rPr>
              <a:t>in 2022, </a:t>
            </a:r>
            <a:r>
              <a:rPr lang="en-US" altLang="zh-TW" sz="2200" b="1">
                <a:latin typeface="Calibri"/>
                <a:ea typeface="Calibri"/>
                <a:cs typeface="Times New Roman"/>
              </a:rPr>
              <a:t>11,130 </a:t>
            </a:r>
            <a:r>
              <a:rPr lang="en-US" altLang="zh-TW" sz="2200" b="1" err="1">
                <a:latin typeface="Calibri"/>
                <a:ea typeface="Calibri"/>
                <a:cs typeface="Times New Roman"/>
              </a:rPr>
              <a:t>tonnes</a:t>
            </a:r>
            <a:r>
              <a:rPr lang="en-US" altLang="zh-TW" sz="2200">
                <a:latin typeface="Calibri"/>
                <a:ea typeface="Calibri"/>
                <a:cs typeface="Times New Roman"/>
              </a:rPr>
              <a:t> of Municipal Solid Waste (MSW) were landfilled </a:t>
            </a:r>
            <a:r>
              <a:rPr lang="en-US" altLang="zh-TW" sz="2200" b="1">
                <a:latin typeface="Calibri"/>
                <a:ea typeface="Calibri"/>
                <a:cs typeface="Times New Roman"/>
              </a:rPr>
              <a:t>daily</a:t>
            </a:r>
            <a:r>
              <a:rPr lang="en-US" altLang="zh-TW" sz="2200">
                <a:latin typeface="Calibri"/>
                <a:ea typeface="Calibri"/>
                <a:cs typeface="Times New Roman"/>
              </a:rPr>
              <a:t>, 3,300 </a:t>
            </a:r>
            <a:r>
              <a:rPr lang="en-US" altLang="zh-TW" sz="2200" err="1">
                <a:latin typeface="Calibri"/>
                <a:ea typeface="Calibri"/>
                <a:cs typeface="Times New Roman"/>
              </a:rPr>
              <a:t>tonnes</a:t>
            </a:r>
            <a:r>
              <a:rPr lang="en-US" altLang="zh-TW" sz="2200">
                <a:latin typeface="Calibri"/>
                <a:ea typeface="Calibri"/>
                <a:cs typeface="Times New Roman"/>
              </a:rPr>
              <a:t> (≈</a:t>
            </a:r>
            <a:r>
              <a:rPr lang="en-US" altLang="zh-TW" sz="2200" b="1">
                <a:latin typeface="Calibri"/>
                <a:ea typeface="Calibri"/>
                <a:cs typeface="Times New Roman"/>
              </a:rPr>
              <a:t>30%</a:t>
            </a:r>
            <a:r>
              <a:rPr lang="en-US" altLang="zh-TW" sz="2200">
                <a:latin typeface="Calibri"/>
                <a:ea typeface="Calibri"/>
                <a:cs typeface="Times New Roman"/>
              </a:rPr>
              <a:t>) were </a:t>
            </a:r>
            <a:r>
              <a:rPr lang="en-US" altLang="zh-TW" sz="2200" b="1">
                <a:latin typeface="Calibri"/>
                <a:ea typeface="Calibri"/>
                <a:cs typeface="Times New Roman"/>
              </a:rPr>
              <a:t>food waste</a:t>
            </a:r>
            <a:r>
              <a:rPr lang="en-US" altLang="zh-TW" sz="2200">
                <a:latin typeface="Calibri"/>
                <a:ea typeface="Calibri"/>
                <a:cs typeface="Times New Roman"/>
              </a:rPr>
              <a:t> [3]</a:t>
            </a:r>
            <a:br>
              <a:rPr lang="en-US" altLang="zh-TW" sz="2200">
                <a:latin typeface="Calibri"/>
                <a:cs typeface="Times New Roman"/>
              </a:rPr>
            </a:br>
            <a:endParaRPr lang="en-US" altLang="zh-TW" sz="2200">
              <a:latin typeface="Calibri"/>
              <a:ea typeface="Calibri"/>
              <a:cs typeface="Times New Roman"/>
            </a:endParaRPr>
          </a:p>
          <a:p>
            <a:pPr marL="285750" indent="-285750">
              <a:spcAft>
                <a:spcPts val="500"/>
              </a:spcAft>
              <a:buFont typeface="Arial"/>
              <a:buChar char="•"/>
            </a:pPr>
            <a:r>
              <a:rPr lang="en-US" altLang="zh-TW" sz="2200" b="1">
                <a:latin typeface="Calibri"/>
                <a:ea typeface="Calibri"/>
                <a:cs typeface="Times New Roman"/>
              </a:rPr>
              <a:t>Food Waste Management Strategy</a:t>
            </a:r>
            <a:r>
              <a:rPr lang="en-US" altLang="zh-TW" sz="2200">
                <a:latin typeface="Calibri"/>
                <a:ea typeface="Calibri"/>
                <a:cs typeface="Times New Roman"/>
              </a:rPr>
              <a:t> [3]</a:t>
            </a:r>
          </a:p>
        </p:txBody>
      </p:sp>
      <p:pic>
        <p:nvPicPr>
          <p:cNvPr id="27" name="內容版面配置區 6" descr="綠在區區- 維基百科，自由的百科全書">
            <a:extLst>
              <a:ext uri="{FF2B5EF4-FFF2-40B4-BE49-F238E27FC236}">
                <a16:creationId xmlns:a16="http://schemas.microsoft.com/office/drawing/2014/main" id="{8216D7E4-245C-31F0-CE75-D139BFB79B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161452" y="995987"/>
            <a:ext cx="1393136" cy="142626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9" name="圖片 2" descr="一張含有 文字, 螢幕擷取畫面, 平面設計, 設計 的圖片&#10;&#10;AI 產生的內容可能不正確。">
            <a:extLst>
              <a:ext uri="{FF2B5EF4-FFF2-40B4-BE49-F238E27FC236}">
                <a16:creationId xmlns:a16="http://schemas.microsoft.com/office/drawing/2014/main" id="{F0984A30-BA47-6AA1-E1A4-AD15652674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7958" y="4074002"/>
            <a:ext cx="3997003" cy="2593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63362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5AF854-70EA-5294-0ADB-A0780C9DDE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圖片 8" descr="一張含有 美工圖案, 水果, 圖畫, 圖解 的圖片&#10;&#10;AI 產生的內容可能不正確。">
            <a:extLst>
              <a:ext uri="{FF2B5EF4-FFF2-40B4-BE49-F238E27FC236}">
                <a16:creationId xmlns:a16="http://schemas.microsoft.com/office/drawing/2014/main" id="{C0B6DE69-1545-93BA-0B26-AB733196C2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3506" y="427541"/>
            <a:ext cx="2527472" cy="2002673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9" name="標題 1">
            <a:extLst>
              <a:ext uri="{FF2B5EF4-FFF2-40B4-BE49-F238E27FC236}">
                <a16:creationId xmlns:a16="http://schemas.microsoft.com/office/drawing/2014/main" id="{23F66A02-73B0-54D2-8420-6215593693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1108" y="588245"/>
            <a:ext cx="10449784" cy="126592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TW" altLang="en-US" b="1">
                <a:solidFill>
                  <a:srgbClr val="005500"/>
                </a:solidFill>
                <a:latin typeface="Dubai"/>
                <a:cs typeface="Dubai"/>
              </a:rPr>
              <a:t>Background – Global Food Waste</a:t>
            </a:r>
          </a:p>
        </p:txBody>
      </p:sp>
      <p:sp>
        <p:nvSpPr>
          <p:cNvPr id="22" name="內容版面配置區 2">
            <a:extLst>
              <a:ext uri="{FF2B5EF4-FFF2-40B4-BE49-F238E27FC236}">
                <a16:creationId xmlns:a16="http://schemas.microsoft.com/office/drawing/2014/main" id="{4349FAA6-BC09-3DC2-9C89-780C5C530B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7767" y="1622070"/>
            <a:ext cx="10442448" cy="390381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lang="en-US" altLang="zh-TW" sz="2200" b="1">
                <a:solidFill>
                  <a:schemeClr val="tx1"/>
                </a:solidFill>
                <a:latin typeface="Calibri"/>
                <a:ea typeface="Calibri"/>
                <a:cs typeface="Times New Roman"/>
              </a:rPr>
              <a:t>over US$1 trillion</a:t>
            </a:r>
            <a:r>
              <a:rPr lang="zh-TW" sz="2200">
                <a:solidFill>
                  <a:schemeClr val="tx1"/>
                </a:solidFill>
                <a:latin typeface="Calibri"/>
                <a:ea typeface="+mn-lt"/>
                <a:cs typeface="+mn-lt"/>
              </a:rPr>
              <a:t> worth of food is wasted each year (World Bank 2020)</a:t>
            </a:r>
            <a:r>
              <a:rPr lang="zh-TW" altLang="en-US" sz="2200">
                <a:solidFill>
                  <a:schemeClr val="tx1"/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altLang="zh-TW" sz="2200">
                <a:solidFill>
                  <a:schemeClr val="tx1"/>
                </a:solidFill>
                <a:latin typeface="Calibri"/>
                <a:ea typeface="+mn-lt"/>
                <a:cs typeface="+mn-lt"/>
              </a:rPr>
              <a:t>[4]</a:t>
            </a:r>
            <a:endParaRPr lang="zh-TW" sz="2200">
              <a:solidFill>
                <a:schemeClr val="tx1"/>
              </a:solidFill>
              <a:latin typeface="Calibri"/>
              <a:cs typeface="Times New Roman"/>
            </a:endParaRP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lang="zh-TW" sz="2200" b="1">
                <a:solidFill>
                  <a:schemeClr val="tx1"/>
                </a:solidFill>
                <a:latin typeface="Calibri"/>
                <a:cs typeface="Times New Roman"/>
              </a:rPr>
              <a:t>more than one-third</a:t>
            </a:r>
            <a:r>
              <a:rPr lang="zh-TW" sz="2200">
                <a:solidFill>
                  <a:schemeClr val="tx1"/>
                </a:solidFill>
                <a:latin typeface="Calibri"/>
                <a:cs typeface="Times New Roman"/>
              </a:rPr>
              <a:t> of all food produced globally ends up as waste </a:t>
            </a:r>
          </a:p>
          <a:p>
            <a:pPr marL="342900" indent="-342900">
              <a:lnSpc>
                <a:spcPct val="100000"/>
              </a:lnSpc>
              <a:spcAft>
                <a:spcPts val="500"/>
              </a:spcAft>
            </a:pPr>
            <a:r>
              <a:rPr lang="zh-TW" altLang="en-US" sz="2200">
                <a:solidFill>
                  <a:schemeClr val="tx1"/>
                </a:solidFill>
                <a:latin typeface="Calibri"/>
                <a:cs typeface="Times New Roman"/>
              </a:rPr>
              <a:t>Food Impact</a:t>
            </a:r>
            <a:endParaRPr lang="zh-TW" sz="2200">
              <a:solidFill>
                <a:schemeClr val="tx1"/>
              </a:solidFill>
              <a:latin typeface="Calibri"/>
              <a:cs typeface="Times New Roman"/>
            </a:endParaRPr>
          </a:p>
          <a:p>
            <a:pPr marL="571500" lvl="1">
              <a:lnSpc>
                <a:spcPct val="100000"/>
              </a:lnSpc>
              <a:spcAft>
                <a:spcPts val="500"/>
              </a:spcAft>
              <a:buFont typeface="Courier New" panose="020B0604020202020204" pitchFamily="34" charset="0"/>
              <a:buChar char="o"/>
            </a:pPr>
            <a:r>
              <a:rPr lang="zh-TW" altLang="en-US" sz="2200">
                <a:solidFill>
                  <a:schemeClr val="tx1"/>
                </a:solidFill>
                <a:latin typeface="Calibri"/>
                <a:cs typeface="Times New Roman"/>
              </a:rPr>
              <a:t>Resource Waste</a:t>
            </a:r>
            <a:endParaRPr lang="zh-TW" sz="2200">
              <a:solidFill>
                <a:schemeClr val="tx1"/>
              </a:solidFill>
              <a:latin typeface="Calibri"/>
              <a:cs typeface="Times New Roman"/>
            </a:endParaRPr>
          </a:p>
          <a:p>
            <a:pPr marL="571500" lvl="1">
              <a:lnSpc>
                <a:spcPct val="100000"/>
              </a:lnSpc>
              <a:spcAft>
                <a:spcPts val="500"/>
              </a:spcAft>
              <a:buFont typeface="Courier New" panose="020B0604020202020204" pitchFamily="34" charset="0"/>
              <a:buChar char="o"/>
            </a:pPr>
            <a:r>
              <a:rPr lang="zh-TW" altLang="en-US" sz="2200">
                <a:solidFill>
                  <a:schemeClr val="tx1"/>
                </a:solidFill>
                <a:latin typeface="Calibri"/>
                <a:cs typeface="Times New Roman"/>
              </a:rPr>
              <a:t>Food insecurity</a:t>
            </a:r>
            <a:endParaRPr lang="zh-TW" sz="2200">
              <a:solidFill>
                <a:schemeClr val="tx1"/>
              </a:solidFill>
              <a:latin typeface="Calibri"/>
              <a:cs typeface="Times New Roman"/>
            </a:endParaRPr>
          </a:p>
          <a:p>
            <a:pPr marL="571500" lvl="1">
              <a:lnSpc>
                <a:spcPct val="100000"/>
              </a:lnSpc>
              <a:spcAft>
                <a:spcPts val="500"/>
              </a:spcAft>
              <a:buFont typeface="Courier New" panose="020B0604020202020204" pitchFamily="34" charset="0"/>
              <a:buChar char="o"/>
            </a:pPr>
            <a:r>
              <a:rPr lang="en-US" altLang="zh-TW" sz="2200">
                <a:solidFill>
                  <a:schemeClr val="tx1"/>
                </a:solidFill>
                <a:latin typeface="Calibri"/>
                <a:ea typeface="+mn-lt"/>
                <a:cs typeface="+mn-lt"/>
              </a:rPr>
              <a:t>G</a:t>
            </a:r>
            <a:r>
              <a:rPr lang="zh-TW" sz="2200">
                <a:solidFill>
                  <a:schemeClr val="tx1"/>
                </a:solidFill>
                <a:latin typeface="Calibri"/>
                <a:ea typeface="+mn-lt"/>
                <a:cs typeface="+mn-lt"/>
              </a:rPr>
              <a:t>reenhouse gas emissions</a:t>
            </a:r>
            <a:r>
              <a:rPr lang="zh-TW" altLang="en-US" sz="2200">
                <a:solidFill>
                  <a:schemeClr val="tx1"/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altLang="zh-TW" sz="2200">
                <a:solidFill>
                  <a:schemeClr val="tx1"/>
                </a:solidFill>
                <a:latin typeface="Calibri"/>
                <a:ea typeface="+mn-lt"/>
                <a:cs typeface="+mn-lt"/>
              </a:rPr>
              <a:t>(8-10%</a:t>
            </a:r>
            <a:r>
              <a:rPr lang="zh-TW" altLang="en-US" sz="2200">
                <a:solidFill>
                  <a:schemeClr val="tx1"/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altLang="zh-TW" sz="2200">
                <a:solidFill>
                  <a:schemeClr val="tx1"/>
                </a:solidFill>
                <a:latin typeface="Calibri"/>
                <a:ea typeface="+mn-lt"/>
                <a:cs typeface="+mn-lt"/>
              </a:rPr>
              <a:t>due</a:t>
            </a:r>
            <a:r>
              <a:rPr lang="zh-TW" altLang="en-US" sz="2200">
                <a:solidFill>
                  <a:schemeClr val="tx1"/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altLang="zh-TW" sz="2200">
                <a:solidFill>
                  <a:schemeClr val="tx1"/>
                </a:solidFill>
                <a:latin typeface="Calibri"/>
                <a:ea typeface="+mn-lt"/>
                <a:cs typeface="+mn-lt"/>
              </a:rPr>
              <a:t>to</a:t>
            </a:r>
            <a:r>
              <a:rPr lang="zh-TW" altLang="en-US" sz="2200">
                <a:solidFill>
                  <a:schemeClr val="tx1"/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altLang="zh-TW" sz="2200">
                <a:solidFill>
                  <a:schemeClr val="tx1"/>
                </a:solidFill>
                <a:latin typeface="Calibri"/>
                <a:ea typeface="+mn-lt"/>
                <a:cs typeface="+mn-lt"/>
              </a:rPr>
              <a:t>food</a:t>
            </a:r>
            <a:r>
              <a:rPr lang="zh-TW" altLang="en-US" sz="2200">
                <a:solidFill>
                  <a:schemeClr val="tx1"/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altLang="zh-TW" sz="2200">
                <a:solidFill>
                  <a:schemeClr val="tx1"/>
                </a:solidFill>
                <a:latin typeface="Calibri"/>
                <a:ea typeface="+mn-lt"/>
                <a:cs typeface="+mn-lt"/>
              </a:rPr>
              <a:t>waste)</a:t>
            </a:r>
            <a:endParaRPr lang="zh-TW" altLang="en-US" sz="2200">
              <a:solidFill>
                <a:schemeClr val="tx1"/>
              </a:solidFill>
              <a:latin typeface="Calibri"/>
              <a:ea typeface="+mn-lt"/>
              <a:cs typeface="Times New Roman"/>
            </a:endParaRPr>
          </a:p>
          <a:p>
            <a:pPr marL="571500" lvl="1">
              <a:lnSpc>
                <a:spcPct val="100000"/>
              </a:lnSpc>
              <a:spcAft>
                <a:spcPts val="500"/>
              </a:spcAft>
              <a:buFont typeface="Courier New" panose="020B0604020202020204" pitchFamily="34" charset="0"/>
              <a:buChar char="o"/>
            </a:pPr>
            <a:r>
              <a:rPr lang="en-US" altLang="zh-TW" sz="2200">
                <a:solidFill>
                  <a:schemeClr val="tx1"/>
                </a:solidFill>
                <a:latin typeface="Calibri"/>
                <a:ea typeface="+mn-lt"/>
                <a:cs typeface="+mn-lt"/>
              </a:rPr>
              <a:t>Abundant economic loss</a:t>
            </a:r>
            <a:endParaRPr lang="zh-TW" sz="2200">
              <a:solidFill>
                <a:schemeClr val="tx1"/>
              </a:solidFill>
              <a:latin typeface="Calibri"/>
              <a:ea typeface="+mn-lt"/>
              <a:cs typeface="Times New Roman"/>
            </a:endParaRPr>
          </a:p>
        </p:txBody>
      </p:sp>
      <p:pic>
        <p:nvPicPr>
          <p:cNvPr id="26" name="圖片 6" descr="In the face of global hunger, Hong Kong must stop wasting food | South  China Morning Post">
            <a:extLst>
              <a:ext uri="{FF2B5EF4-FFF2-40B4-BE49-F238E27FC236}">
                <a16:creationId xmlns:a16="http://schemas.microsoft.com/office/drawing/2014/main" id="{E88080F3-14D8-8DA8-1F42-740BBF3462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2589" y="2528680"/>
            <a:ext cx="2743200" cy="182880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30" name="圖片 9" descr="Money Loss Vector Illustration, Flat Cartoon Cash with Down Arrow Stocks  Graph, Financial Crisis Concept, Market Fall Stock Vector - Illustration of  flat, cartoon: 114225921">
            <a:extLst>
              <a:ext uri="{FF2B5EF4-FFF2-40B4-BE49-F238E27FC236}">
                <a16:creationId xmlns:a16="http://schemas.microsoft.com/office/drawing/2014/main" id="{8B036565-FA8F-5BF8-E80D-287F438099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84273" y="4544893"/>
            <a:ext cx="2202476" cy="2127736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205909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2A5C20D-BDB8-F78A-DDCF-6C2F055D0D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3803" y="588002"/>
            <a:ext cx="11305395" cy="569057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zh-TW" altLang="en-US" sz="3200" b="1">
                <a:solidFill>
                  <a:srgbClr val="005500"/>
                </a:solidFill>
                <a:latin typeface="Dubai"/>
                <a:cs typeface="Dubai"/>
              </a:rPr>
              <a:t>Objective</a:t>
            </a:r>
          </a:p>
          <a:p>
            <a:r>
              <a:rPr lang="zh-TW" sz="2200">
                <a:latin typeface="Calibri"/>
                <a:cs typeface="Calibri"/>
              </a:rPr>
              <a:t>To examine the severity of global food waste a</a:t>
            </a:r>
            <a:r>
              <a:rPr lang="en-US" altLang="zh-TW" sz="2200">
                <a:latin typeface="Calibri"/>
                <a:ea typeface="Calibri"/>
                <a:cs typeface="Calibri"/>
              </a:rPr>
              <a:t>nd</a:t>
            </a:r>
            <a:r>
              <a:rPr lang="zh-TW" sz="2200">
                <a:latin typeface="Calibri"/>
                <a:cs typeface="Calibri"/>
              </a:rPr>
              <a:t> </a:t>
            </a:r>
            <a:r>
              <a:rPr lang="en-US" altLang="zh-TW" sz="2200">
                <a:latin typeface="Calibri"/>
                <a:ea typeface="Calibri"/>
                <a:cs typeface="Calibri"/>
              </a:rPr>
              <a:t>economic loss from food waste</a:t>
            </a:r>
            <a:r>
              <a:rPr lang="zh-TW" altLang="en-US" sz="2200">
                <a:latin typeface="Calibri"/>
                <a:cs typeface="Calibri"/>
              </a:rPr>
              <a:t> </a:t>
            </a:r>
            <a:r>
              <a:rPr lang="zh-TW" sz="2200">
                <a:latin typeface="Calibri"/>
                <a:cs typeface="Calibri"/>
              </a:rPr>
              <a:t>in recent years</a:t>
            </a:r>
            <a:endParaRPr lang="zh-TW" altLang="en-US" sz="2200">
              <a:latin typeface="Calibri"/>
              <a:cs typeface="Calibri"/>
            </a:endParaRPr>
          </a:p>
          <a:p>
            <a:r>
              <a:rPr lang="en-US" altLang="zh-TW" sz="2200">
                <a:latin typeface="Calibri"/>
                <a:ea typeface="Calibri"/>
                <a:cs typeface="Calibri"/>
              </a:rPr>
              <a:t>Derive</a:t>
            </a:r>
            <a:r>
              <a:rPr lang="zh-TW" altLang="en-US" sz="2200">
                <a:latin typeface="Calibri"/>
                <a:cs typeface="Calibri"/>
              </a:rPr>
              <a:t> </a:t>
            </a:r>
            <a:r>
              <a:rPr lang="en-US" altLang="zh-TW" sz="2200">
                <a:latin typeface="Calibri"/>
                <a:ea typeface="Calibri"/>
                <a:cs typeface="Calibri"/>
              </a:rPr>
              <a:t>data-driven</a:t>
            </a:r>
            <a:r>
              <a:rPr lang="zh-TW" altLang="en-US" sz="2200">
                <a:latin typeface="Calibri"/>
                <a:cs typeface="Calibri"/>
              </a:rPr>
              <a:t> </a:t>
            </a:r>
            <a:r>
              <a:rPr lang="en-US" altLang="zh-TW" sz="2200">
                <a:latin typeface="Calibri"/>
                <a:ea typeface="Calibri"/>
                <a:cs typeface="Calibri"/>
              </a:rPr>
              <a:t>insights</a:t>
            </a:r>
            <a:r>
              <a:rPr lang="zh-TW" altLang="en-US" sz="2200">
                <a:latin typeface="Calibri"/>
                <a:cs typeface="Calibri"/>
              </a:rPr>
              <a:t> </a:t>
            </a:r>
            <a:r>
              <a:rPr lang="en-US" altLang="zh-TW" sz="2200">
                <a:latin typeface="Calibri"/>
                <a:ea typeface="Calibri"/>
                <a:cs typeface="Calibri"/>
              </a:rPr>
              <a:t>to</a:t>
            </a:r>
            <a:r>
              <a:rPr lang="zh-TW" altLang="en-US" sz="2200">
                <a:latin typeface="Calibri"/>
                <a:cs typeface="Calibri"/>
              </a:rPr>
              <a:t> </a:t>
            </a:r>
            <a:r>
              <a:rPr lang="en-US" altLang="zh-TW" sz="2200">
                <a:latin typeface="Calibri"/>
                <a:ea typeface="Calibri"/>
                <a:cs typeface="Calibri"/>
              </a:rPr>
              <a:t>inform</a:t>
            </a:r>
            <a:r>
              <a:rPr lang="zh-TW" altLang="en-US" sz="2200">
                <a:latin typeface="Calibri"/>
                <a:cs typeface="Calibri"/>
              </a:rPr>
              <a:t> </a:t>
            </a:r>
            <a:r>
              <a:rPr lang="en-US" altLang="zh-TW" sz="2200">
                <a:latin typeface="Calibri"/>
                <a:ea typeface="Calibri"/>
                <a:cs typeface="Calibri"/>
              </a:rPr>
              <a:t>future</a:t>
            </a:r>
            <a:r>
              <a:rPr lang="zh-TW" altLang="en-US" sz="2200">
                <a:latin typeface="Calibri"/>
                <a:cs typeface="Calibri"/>
              </a:rPr>
              <a:t> </a:t>
            </a:r>
            <a:r>
              <a:rPr lang="en-US" altLang="zh-TW" sz="2200">
                <a:latin typeface="Calibri"/>
                <a:ea typeface="Calibri"/>
                <a:cs typeface="Calibri"/>
              </a:rPr>
              <a:t>policy</a:t>
            </a:r>
            <a:r>
              <a:rPr lang="zh-TW" altLang="en-US" sz="2200">
                <a:latin typeface="Calibri"/>
                <a:cs typeface="Calibri"/>
              </a:rPr>
              <a:t> </a:t>
            </a:r>
            <a:r>
              <a:rPr lang="en-US" altLang="zh-TW" sz="2200">
                <a:latin typeface="Calibri"/>
                <a:ea typeface="Calibri"/>
                <a:cs typeface="Calibri"/>
              </a:rPr>
              <a:t>priorities.</a:t>
            </a:r>
            <a:endParaRPr lang="zh-TW" altLang="en-US" sz="2200">
              <a:latin typeface="Calibri"/>
              <a:cs typeface="Calibri"/>
            </a:endParaRPr>
          </a:p>
          <a:p>
            <a:endParaRPr lang="zh-TW">
              <a:latin typeface="Aptos Light"/>
            </a:endParaRPr>
          </a:p>
          <a:p>
            <a:pPr marL="0" indent="0">
              <a:buNone/>
            </a:pPr>
            <a:r>
              <a:rPr lang="en-US" altLang="zh-TW" sz="3200" b="1">
                <a:solidFill>
                  <a:srgbClr val="005500"/>
                </a:solidFill>
                <a:latin typeface="Dubai"/>
                <a:cs typeface="Dubai"/>
              </a:rPr>
              <a:t>Hypothesis</a:t>
            </a:r>
            <a:endParaRPr lang="zh-TW" sz="3200" b="1">
              <a:solidFill>
                <a:srgbClr val="005500"/>
              </a:solidFill>
              <a:latin typeface="Dubai"/>
              <a:cs typeface="Dubai"/>
            </a:endParaRPr>
          </a:p>
          <a:p>
            <a:r>
              <a:rPr lang="zh-TW" sz="2200">
                <a:latin typeface="Calibri"/>
                <a:cs typeface="Calibri"/>
              </a:rPr>
              <a:t>Global economic growth a</a:t>
            </a:r>
            <a:r>
              <a:rPr lang="en-US" altLang="zh-TW" sz="2200">
                <a:latin typeface="Calibri"/>
                <a:cs typeface="Calibri"/>
              </a:rPr>
              <a:t>nd</a:t>
            </a:r>
            <a:r>
              <a:rPr lang="zh-TW" sz="2200">
                <a:latin typeface="Calibri"/>
                <a:cs typeface="Calibri"/>
              </a:rPr>
              <a:t> population growth</a:t>
            </a:r>
            <a:r>
              <a:rPr lang="zh-TW" altLang="en-US" sz="2200">
                <a:latin typeface="Calibri"/>
                <a:cs typeface="Calibri"/>
              </a:rPr>
              <a:t> </a:t>
            </a:r>
            <a:r>
              <a:rPr lang="zh-TW" sz="2200">
                <a:latin typeface="Calibri"/>
                <a:cs typeface="Calibri"/>
              </a:rPr>
              <a:t>increases food demand, leading to overproduction and rising food waste.</a:t>
            </a:r>
            <a:endParaRPr lang="zh-TW" altLang="en-US" sz="2200">
              <a:latin typeface="Calibri"/>
              <a:cs typeface="Calibri"/>
            </a:endParaRPr>
          </a:p>
          <a:p>
            <a:r>
              <a:rPr lang="zh-TW" sz="2200">
                <a:latin typeface="Calibri"/>
                <a:cs typeface="Calibri"/>
              </a:rPr>
              <a:t>Developed countries face greater economic losses from food waste than developing nations.</a:t>
            </a:r>
          </a:p>
        </p:txBody>
      </p:sp>
    </p:spTree>
    <p:extLst>
      <p:ext uri="{BB962C8B-B14F-4D97-AF65-F5344CB8AC3E}">
        <p14:creationId xmlns:p14="http://schemas.microsoft.com/office/powerpoint/2010/main" val="1409403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11ED99-B787-8EE0-1CAE-6EF74FFD8C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>
            <a:extLst>
              <a:ext uri="{FF2B5EF4-FFF2-40B4-BE49-F238E27FC236}">
                <a16:creationId xmlns:a16="http://schemas.microsoft.com/office/drawing/2014/main" id="{7500505D-704A-DF7D-A055-183B7993E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1108" y="588245"/>
            <a:ext cx="10449784" cy="126592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TW" altLang="en-US" b="1">
                <a:solidFill>
                  <a:srgbClr val="005500"/>
                </a:solidFill>
                <a:latin typeface="Dubai"/>
                <a:cs typeface="Dubai"/>
              </a:rPr>
              <a:t>Methodology</a:t>
            </a:r>
            <a:endParaRPr lang="zh-TW" b="1">
              <a:solidFill>
                <a:srgbClr val="005500"/>
              </a:solidFill>
              <a:latin typeface="Dubai"/>
              <a:cs typeface="Dubai"/>
            </a:endParaRPr>
          </a:p>
        </p:txBody>
      </p:sp>
      <p:sp>
        <p:nvSpPr>
          <p:cNvPr id="8" name="文字方塊 9">
            <a:extLst>
              <a:ext uri="{FF2B5EF4-FFF2-40B4-BE49-F238E27FC236}">
                <a16:creationId xmlns:a16="http://schemas.microsoft.com/office/drawing/2014/main" id="{01646E93-AF69-9594-58B5-7A400EBCC10D}"/>
              </a:ext>
            </a:extLst>
          </p:cNvPr>
          <p:cNvSpPr txBox="1"/>
          <p:nvPr/>
        </p:nvSpPr>
        <p:spPr>
          <a:xfrm>
            <a:off x="873672" y="2331983"/>
            <a:ext cx="4575940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zh-TW" altLang="en-US" b="1">
                <a:latin typeface="Calibri"/>
                <a:ea typeface="+mn-lt"/>
                <a:cs typeface="+mn-lt"/>
              </a:rPr>
              <a:t>Kaggle [4]</a:t>
            </a:r>
          </a:p>
          <a:p>
            <a:pPr marL="285750" indent="-285750">
              <a:buFont typeface="Arial"/>
              <a:buChar char="•"/>
            </a:pPr>
            <a:r>
              <a:rPr lang="zh-TW">
                <a:latin typeface="Calibri"/>
                <a:ea typeface="+mn-lt"/>
                <a:cs typeface="+mn-lt"/>
              </a:rPr>
              <a:t>contains </a:t>
            </a:r>
            <a:r>
              <a:rPr lang="zh-TW" b="1">
                <a:latin typeface="Calibri"/>
                <a:ea typeface="+mn-lt"/>
                <a:cs typeface="+mn-lt"/>
              </a:rPr>
              <a:t>5,000 records</a:t>
            </a:r>
            <a:r>
              <a:rPr lang="zh-TW">
                <a:latin typeface="Calibri"/>
                <a:ea typeface="+mn-lt"/>
                <a:cs typeface="+mn-lt"/>
              </a:rPr>
              <a:t> </a:t>
            </a:r>
            <a:endParaRPr lang="zh-TW" altLang="en-US">
              <a:latin typeface="Calibri"/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zh-TW">
                <a:latin typeface="Calibri"/>
                <a:ea typeface="+mn-lt"/>
                <a:cs typeface="+mn-lt"/>
              </a:rPr>
              <a:t>covering food wastage across </a:t>
            </a:r>
            <a:r>
              <a:rPr lang="zh-TW" b="1">
                <a:latin typeface="Calibri"/>
                <a:ea typeface="+mn-lt"/>
                <a:cs typeface="+mn-lt"/>
              </a:rPr>
              <a:t>20 countries </a:t>
            </a:r>
            <a:endParaRPr lang="zh-TW" altLang="en-US" b="1">
              <a:latin typeface="Calibri"/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zh-TW">
                <a:latin typeface="Calibri"/>
                <a:ea typeface="+mn-lt"/>
                <a:cs typeface="+mn-lt"/>
              </a:rPr>
              <a:t>spanning </a:t>
            </a:r>
            <a:r>
              <a:rPr lang="zh-TW" b="1">
                <a:latin typeface="Calibri"/>
                <a:ea typeface="+mn-lt"/>
                <a:cs typeface="+mn-lt"/>
              </a:rPr>
              <a:t>7 years (2018-2024)</a:t>
            </a:r>
            <a:endParaRPr lang="zh-TW">
              <a:latin typeface="Calibri"/>
              <a:cs typeface="Times New Roman"/>
            </a:endParaRPr>
          </a:p>
        </p:txBody>
      </p:sp>
      <p:pic>
        <p:nvPicPr>
          <p:cNvPr id="10" name="內容版面配置區 6" descr="一張含有 文字, 字型, 螢幕擷取畫面, 圖形 的圖片&#10;&#10;AI 產生的內容可能不正確。">
            <a:extLst>
              <a:ext uri="{FF2B5EF4-FFF2-40B4-BE49-F238E27FC236}">
                <a16:creationId xmlns:a16="http://schemas.microsoft.com/office/drawing/2014/main" id="{917477BC-93C0-88F6-51B9-0B7E8CE1AC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256" y="1360417"/>
            <a:ext cx="4589501" cy="972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1845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D94427-4AEA-3D66-5B29-68BF10E1B9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450E2FC1-6546-583F-6AFA-20AA9DB0C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1108" y="261673"/>
            <a:ext cx="10449784" cy="830500"/>
          </a:xfrm>
        </p:spPr>
        <p:txBody>
          <a:bodyPr/>
          <a:lstStyle/>
          <a:p>
            <a:r>
              <a:rPr lang="en-US" sz="3200" b="1" kern="1200">
                <a:solidFill>
                  <a:srgbClr val="005500"/>
                </a:solidFill>
                <a:latin typeface="Dubai"/>
                <a:ea typeface="+mj-lt"/>
                <a:cs typeface="+mj-lt"/>
              </a:rPr>
              <a:t>Challenges, Limitations &amp; </a:t>
            </a:r>
            <a:r>
              <a:rPr lang="en-US" b="1">
                <a:solidFill>
                  <a:srgbClr val="005500"/>
                </a:solidFill>
                <a:latin typeface="Dubai"/>
                <a:ea typeface="+mj-lt"/>
                <a:cs typeface="+mj-lt"/>
              </a:rPr>
              <a:t>Future Work</a:t>
            </a:r>
            <a:endParaRPr lang="en-US" b="1">
              <a:solidFill>
                <a:srgbClr val="005500"/>
              </a:solidFill>
              <a:latin typeface="Dubai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0BD5FEF-99FB-275B-10F6-59089E2824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5729" y="1480651"/>
            <a:ext cx="10454543" cy="488353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altLang="zh-TW" sz="2000" b="1">
                <a:solidFill>
                  <a:srgbClr val="005500"/>
                </a:solidFill>
                <a:latin typeface="Calibri"/>
                <a:ea typeface="Calibri"/>
                <a:cs typeface="Times New Roman"/>
              </a:rPr>
              <a:t>Challenges &amp; Limitations</a:t>
            </a:r>
          </a:p>
          <a:p>
            <a:pPr marL="0" indent="0">
              <a:buNone/>
            </a:pPr>
            <a:r>
              <a:rPr lang="en-US" altLang="zh-TW" sz="1800" b="1">
                <a:latin typeface="Calibri"/>
                <a:ea typeface="Calibri"/>
                <a:cs typeface="Times New Roman"/>
              </a:rPr>
              <a:t>Current</a:t>
            </a:r>
            <a:r>
              <a:rPr lang="zh-TW" altLang="en-US" sz="1800" b="1">
                <a:latin typeface="Calibri"/>
                <a:ea typeface="+mn-lt"/>
                <a:cs typeface="+mn-lt"/>
              </a:rPr>
              <a:t> </a:t>
            </a:r>
            <a:r>
              <a:rPr lang="en-US" altLang="zh-TW" sz="1800" b="1">
                <a:latin typeface="Calibri"/>
                <a:ea typeface="+mn-lt"/>
                <a:cs typeface="+mn-lt"/>
              </a:rPr>
              <a:t>scope</a:t>
            </a:r>
            <a:r>
              <a:rPr lang="en-US" altLang="zh-TW" sz="1800">
                <a:latin typeface="Calibri"/>
                <a:ea typeface="+mn-lt"/>
                <a:cs typeface="+mn-lt"/>
              </a:rPr>
              <a:t>:</a:t>
            </a:r>
            <a:r>
              <a:rPr lang="zh-TW" altLang="en-US" sz="1800">
                <a:latin typeface="Calibri"/>
                <a:ea typeface="+mn-lt"/>
                <a:cs typeface="+mn-lt"/>
              </a:rPr>
              <a:t> </a:t>
            </a:r>
            <a:r>
              <a:rPr lang="en-US" altLang="zh-TW" sz="1800">
                <a:latin typeface="Calibri"/>
                <a:ea typeface="+mn-lt"/>
                <a:cs typeface="+mn-lt"/>
              </a:rPr>
              <a:t>Focused</a:t>
            </a:r>
            <a:r>
              <a:rPr lang="zh-TW" altLang="en-US" sz="1800">
                <a:latin typeface="Calibri"/>
                <a:ea typeface="+mn-lt"/>
                <a:cs typeface="+mn-lt"/>
              </a:rPr>
              <a:t> </a:t>
            </a:r>
            <a:r>
              <a:rPr lang="en-US" altLang="zh-TW" sz="1800">
                <a:latin typeface="Calibri"/>
                <a:ea typeface="+mn-lt"/>
                <a:cs typeface="+mn-lt"/>
              </a:rPr>
              <a:t>on</a:t>
            </a:r>
            <a:r>
              <a:rPr lang="zh-TW" altLang="en-US" sz="1800">
                <a:latin typeface="Calibri"/>
                <a:ea typeface="+mn-lt"/>
                <a:cs typeface="+mn-lt"/>
              </a:rPr>
              <a:t> </a:t>
            </a:r>
            <a:r>
              <a:rPr lang="en-US" altLang="zh-TW" sz="1800">
                <a:latin typeface="Calibri"/>
                <a:ea typeface="+mn-lt"/>
                <a:cs typeface="+mn-lt"/>
              </a:rPr>
              <a:t>food</a:t>
            </a:r>
            <a:r>
              <a:rPr lang="zh-TW" altLang="en-US" sz="1800">
                <a:latin typeface="Calibri"/>
                <a:ea typeface="+mn-lt"/>
                <a:cs typeface="+mn-lt"/>
              </a:rPr>
              <a:t> </a:t>
            </a:r>
            <a:r>
              <a:rPr lang="en-US" altLang="zh-TW" sz="1800">
                <a:latin typeface="Calibri"/>
                <a:ea typeface="+mn-lt"/>
                <a:cs typeface="+mn-lt"/>
              </a:rPr>
              <a:t>waste</a:t>
            </a:r>
            <a:r>
              <a:rPr lang="zh-TW" altLang="en-US" sz="1800">
                <a:latin typeface="Calibri"/>
                <a:ea typeface="+mn-lt"/>
                <a:cs typeface="+mn-lt"/>
              </a:rPr>
              <a:t> </a:t>
            </a:r>
            <a:r>
              <a:rPr lang="en-US" altLang="zh-TW" sz="1800">
                <a:latin typeface="Calibri"/>
                <a:ea typeface="+mn-lt"/>
                <a:cs typeface="+mn-lt"/>
              </a:rPr>
              <a:t>patterns</a:t>
            </a:r>
            <a:r>
              <a:rPr lang="zh-TW" altLang="en-US" sz="1800">
                <a:latin typeface="Calibri"/>
                <a:ea typeface="+mn-lt"/>
                <a:cs typeface="+mn-lt"/>
              </a:rPr>
              <a:t> </a:t>
            </a:r>
            <a:r>
              <a:rPr lang="en-US" altLang="zh-TW" sz="1800">
                <a:latin typeface="Calibri"/>
                <a:ea typeface="+mn-lt"/>
                <a:cs typeface="+mn-lt"/>
              </a:rPr>
              <a:t>by</a:t>
            </a:r>
            <a:r>
              <a:rPr lang="zh-TW" altLang="en-US" sz="1800">
                <a:latin typeface="Calibri"/>
                <a:ea typeface="+mn-lt"/>
                <a:cs typeface="+mn-lt"/>
              </a:rPr>
              <a:t> </a:t>
            </a:r>
            <a:r>
              <a:rPr lang="en-US" altLang="zh-TW" sz="1800">
                <a:latin typeface="Calibri"/>
                <a:ea typeface="+mn-lt"/>
                <a:cs typeface="+mn-lt"/>
              </a:rPr>
              <a:t>food</a:t>
            </a:r>
            <a:r>
              <a:rPr lang="zh-TW" altLang="en-US" sz="1800">
                <a:latin typeface="Calibri"/>
                <a:ea typeface="+mn-lt"/>
                <a:cs typeface="+mn-lt"/>
              </a:rPr>
              <a:t> </a:t>
            </a:r>
            <a:r>
              <a:rPr lang="en-US" altLang="zh-TW" sz="1800">
                <a:latin typeface="Calibri"/>
                <a:ea typeface="+mn-lt"/>
                <a:cs typeface="+mn-lt"/>
              </a:rPr>
              <a:t>categories,</a:t>
            </a:r>
            <a:r>
              <a:rPr lang="zh-TW" altLang="en-US" sz="1800">
                <a:latin typeface="Calibri"/>
                <a:ea typeface="+mn-lt"/>
                <a:cs typeface="+mn-lt"/>
              </a:rPr>
              <a:t> </a:t>
            </a:r>
            <a:r>
              <a:rPr lang="en-US" altLang="zh-TW" sz="1800">
                <a:latin typeface="Calibri"/>
                <a:ea typeface="+mn-lt"/>
                <a:cs typeface="+mn-lt"/>
              </a:rPr>
              <a:t>waste</a:t>
            </a:r>
            <a:r>
              <a:rPr lang="zh-TW" altLang="en-US" sz="1800">
                <a:latin typeface="Calibri"/>
                <a:ea typeface="+mn-lt"/>
                <a:cs typeface="+mn-lt"/>
              </a:rPr>
              <a:t> </a:t>
            </a:r>
            <a:r>
              <a:rPr lang="en-US" altLang="zh-TW" sz="1800">
                <a:latin typeface="Calibri"/>
                <a:ea typeface="+mn-lt"/>
                <a:cs typeface="+mn-lt"/>
              </a:rPr>
              <a:t>amounts,</a:t>
            </a:r>
            <a:r>
              <a:rPr lang="zh-TW" altLang="en-US" sz="1800">
                <a:latin typeface="Calibri"/>
                <a:ea typeface="+mn-lt"/>
                <a:cs typeface="+mn-lt"/>
              </a:rPr>
              <a:t> </a:t>
            </a:r>
            <a:r>
              <a:rPr lang="en-US" altLang="zh-TW" sz="1800">
                <a:latin typeface="Calibri"/>
                <a:ea typeface="+mn-lt"/>
                <a:cs typeface="+mn-lt"/>
              </a:rPr>
              <a:t>and</a:t>
            </a:r>
            <a:r>
              <a:rPr lang="zh-TW" altLang="en-US" sz="1800">
                <a:latin typeface="Calibri"/>
                <a:ea typeface="+mn-lt"/>
                <a:cs typeface="+mn-lt"/>
              </a:rPr>
              <a:t> </a:t>
            </a:r>
            <a:r>
              <a:rPr lang="en-US" altLang="zh-TW" sz="1800">
                <a:latin typeface="Calibri"/>
                <a:ea typeface="+mn-lt"/>
                <a:cs typeface="+mn-lt"/>
              </a:rPr>
              <a:t>population</a:t>
            </a:r>
            <a:r>
              <a:rPr lang="zh-TW" altLang="en-US" sz="1800">
                <a:latin typeface="Calibri"/>
                <a:ea typeface="+mn-lt"/>
                <a:cs typeface="+mn-lt"/>
              </a:rPr>
              <a:t> </a:t>
            </a:r>
            <a:r>
              <a:rPr lang="en-US" altLang="zh-TW" sz="1800">
                <a:latin typeface="Calibri"/>
                <a:ea typeface="+mn-lt"/>
                <a:cs typeface="+mn-lt"/>
              </a:rPr>
              <a:t>size</a:t>
            </a:r>
            <a:endParaRPr lang="en-US" sz="1800">
              <a:latin typeface="Calibri"/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altLang="zh-TW" sz="1800" b="1">
                <a:latin typeface="Calibri"/>
                <a:ea typeface="+mn-lt"/>
                <a:cs typeface="+mn-lt"/>
              </a:rPr>
              <a:t>Missing</a:t>
            </a:r>
            <a:r>
              <a:rPr lang="zh-TW" altLang="en-US" sz="1800" b="1">
                <a:latin typeface="Calibri"/>
                <a:ea typeface="+mn-lt"/>
                <a:cs typeface="+mn-lt"/>
              </a:rPr>
              <a:t> </a:t>
            </a:r>
            <a:r>
              <a:rPr lang="en-US" altLang="zh-TW" sz="1800" b="1">
                <a:latin typeface="Calibri"/>
                <a:ea typeface="+mn-lt"/>
                <a:cs typeface="+mn-lt"/>
              </a:rPr>
              <a:t>factors</a:t>
            </a:r>
            <a:r>
              <a:rPr lang="en-US" altLang="zh-TW" sz="1800">
                <a:latin typeface="Calibri"/>
                <a:ea typeface="+mn-lt"/>
                <a:cs typeface="+mn-lt"/>
              </a:rPr>
              <a:t>:</a:t>
            </a:r>
            <a:r>
              <a:rPr lang="zh-TW" altLang="en-US" sz="1800">
                <a:latin typeface="Calibri"/>
                <a:ea typeface="+mn-lt"/>
                <a:cs typeface="+mn-lt"/>
              </a:rPr>
              <a:t> </a:t>
            </a:r>
            <a:r>
              <a:rPr lang="en-US" altLang="zh-TW" sz="1800">
                <a:latin typeface="Calibri"/>
                <a:ea typeface="+mn-lt"/>
                <a:cs typeface="+mn-lt"/>
              </a:rPr>
              <a:t>Key</a:t>
            </a:r>
            <a:r>
              <a:rPr lang="zh-TW" altLang="en-US" sz="1800">
                <a:latin typeface="Calibri"/>
                <a:ea typeface="+mn-lt"/>
                <a:cs typeface="+mn-lt"/>
              </a:rPr>
              <a:t> </a:t>
            </a:r>
            <a:r>
              <a:rPr lang="en-US" altLang="zh-TW" sz="1800">
                <a:latin typeface="Calibri"/>
                <a:ea typeface="+mn-lt"/>
                <a:cs typeface="+mn-lt"/>
              </a:rPr>
              <a:t>country-level</a:t>
            </a:r>
            <a:r>
              <a:rPr lang="zh-TW" altLang="en-US" sz="1800">
                <a:latin typeface="Calibri"/>
                <a:ea typeface="+mn-lt"/>
                <a:cs typeface="+mn-lt"/>
              </a:rPr>
              <a:t> </a:t>
            </a:r>
            <a:r>
              <a:rPr lang="en-US" altLang="zh-TW" sz="1800">
                <a:latin typeface="Calibri"/>
                <a:ea typeface="+mn-lt"/>
                <a:cs typeface="+mn-lt"/>
              </a:rPr>
              <a:t>variables</a:t>
            </a:r>
            <a:r>
              <a:rPr lang="zh-TW" altLang="en-US" sz="1800">
                <a:latin typeface="Calibri"/>
                <a:ea typeface="+mn-lt"/>
                <a:cs typeface="+mn-lt"/>
              </a:rPr>
              <a:t> </a:t>
            </a:r>
            <a:r>
              <a:rPr lang="en-US" altLang="zh-TW" sz="1800">
                <a:latin typeface="Calibri"/>
                <a:ea typeface="+mn-lt"/>
                <a:cs typeface="+mn-lt"/>
              </a:rPr>
              <a:t>not</a:t>
            </a:r>
            <a:r>
              <a:rPr lang="zh-TW" altLang="en-US" sz="1800">
                <a:latin typeface="Calibri"/>
                <a:ea typeface="+mn-lt"/>
                <a:cs typeface="+mn-lt"/>
              </a:rPr>
              <a:t> </a:t>
            </a:r>
            <a:r>
              <a:rPr lang="en-US" altLang="zh-TW" sz="1800">
                <a:latin typeface="Calibri"/>
                <a:ea typeface="+mn-lt"/>
                <a:cs typeface="+mn-lt"/>
              </a:rPr>
              <a:t>captured</a:t>
            </a:r>
            <a:r>
              <a:rPr lang="zh-TW" altLang="en-US" sz="1800">
                <a:latin typeface="Calibri"/>
                <a:ea typeface="+mn-lt"/>
                <a:cs typeface="+mn-lt"/>
              </a:rPr>
              <a:t> </a:t>
            </a:r>
            <a:r>
              <a:rPr lang="en-US" altLang="zh-TW" sz="1800">
                <a:latin typeface="Calibri"/>
                <a:ea typeface="+mn-lt"/>
                <a:cs typeface="+mn-lt"/>
              </a:rPr>
              <a:t>in</a:t>
            </a:r>
            <a:r>
              <a:rPr lang="zh-TW" altLang="en-US" sz="1800">
                <a:latin typeface="Calibri"/>
                <a:ea typeface="+mn-lt"/>
                <a:cs typeface="+mn-lt"/>
              </a:rPr>
              <a:t> </a:t>
            </a:r>
            <a:r>
              <a:rPr lang="en-US" altLang="zh-TW" sz="1800">
                <a:latin typeface="Calibri"/>
                <a:ea typeface="+mn-lt"/>
                <a:cs typeface="+mn-lt"/>
              </a:rPr>
              <a:t>dataset</a:t>
            </a:r>
            <a:br>
              <a:rPr lang="en-US" altLang="zh-TW" sz="1800">
                <a:latin typeface="Calibri"/>
                <a:ea typeface="+mn-lt"/>
                <a:cs typeface="+mn-lt"/>
              </a:rPr>
            </a:br>
            <a:endParaRPr lang="en-US" sz="1800">
              <a:latin typeface="Calibri"/>
              <a:ea typeface="+mn-lt"/>
              <a:cs typeface="+mn-lt"/>
            </a:endParaRPr>
          </a:p>
          <a:p>
            <a:pPr marL="228600" lvl="1" indent="-285750">
              <a:buNone/>
            </a:pPr>
            <a:r>
              <a:rPr lang="en-US" altLang="zh-TW" sz="2000" b="1">
                <a:solidFill>
                  <a:srgbClr val="005500"/>
                </a:solidFill>
                <a:latin typeface="Calibri"/>
                <a:ea typeface="Calibri"/>
                <a:cs typeface="Times New Roman"/>
              </a:rPr>
              <a:t>Future</a:t>
            </a:r>
            <a:r>
              <a:rPr lang="zh-TW" altLang="en-US" sz="2000" b="1">
                <a:solidFill>
                  <a:srgbClr val="005500"/>
                </a:solidFill>
                <a:latin typeface="Calibri"/>
                <a:cs typeface="Times New Roman"/>
              </a:rPr>
              <a:t> </a:t>
            </a:r>
            <a:r>
              <a:rPr lang="en-US" altLang="zh-TW" sz="2000" b="1">
                <a:solidFill>
                  <a:srgbClr val="005500"/>
                </a:solidFill>
                <a:latin typeface="Calibri"/>
                <a:ea typeface="Calibri"/>
                <a:cs typeface="Times New Roman"/>
              </a:rPr>
              <a:t>improvement</a:t>
            </a:r>
            <a:endParaRPr lang="zh-TW" altLang="en-US" sz="2000" b="1">
              <a:solidFill>
                <a:srgbClr val="005500"/>
              </a:solidFill>
              <a:latin typeface="Calibri"/>
              <a:ea typeface="Calibri"/>
              <a:cs typeface="Times New Roman"/>
            </a:endParaRPr>
          </a:p>
          <a:p>
            <a:pPr marL="285750" indent="-285750"/>
            <a:r>
              <a:rPr lang="en-US" sz="1800">
                <a:latin typeface="Calibri"/>
                <a:ea typeface="Calibri"/>
                <a:cs typeface="Times New Roman"/>
              </a:rPr>
              <a:t>Include</a:t>
            </a:r>
            <a:r>
              <a:rPr lang="zh-TW" altLang="en-US" sz="1800">
                <a:latin typeface="Calibri"/>
                <a:ea typeface="Calibri"/>
                <a:cs typeface="Times New Roman"/>
              </a:rPr>
              <a:t> </a:t>
            </a:r>
            <a:r>
              <a:rPr lang="en-US" sz="1800" b="1">
                <a:latin typeface="Calibri"/>
                <a:ea typeface="Calibri"/>
                <a:cs typeface="Times New Roman"/>
              </a:rPr>
              <a:t>GDP</a:t>
            </a:r>
            <a:r>
              <a:rPr lang="zh-TW" altLang="en-US" sz="1800" b="1">
                <a:latin typeface="Calibri"/>
                <a:ea typeface="Calibri"/>
                <a:cs typeface="Times New Roman"/>
              </a:rPr>
              <a:t> </a:t>
            </a:r>
            <a:r>
              <a:rPr lang="en-US" sz="1800" b="1">
                <a:latin typeface="Calibri"/>
                <a:ea typeface="Calibri"/>
                <a:cs typeface="Times New Roman"/>
              </a:rPr>
              <a:t>per</a:t>
            </a:r>
            <a:r>
              <a:rPr lang="zh-TW" altLang="en-US" sz="1800" b="1">
                <a:latin typeface="Calibri"/>
                <a:ea typeface="Calibri"/>
                <a:cs typeface="Times New Roman"/>
              </a:rPr>
              <a:t> </a:t>
            </a:r>
            <a:r>
              <a:rPr lang="en-US" sz="1800" b="1">
                <a:latin typeface="Calibri"/>
                <a:ea typeface="Calibri"/>
                <a:cs typeface="Times New Roman"/>
              </a:rPr>
              <a:t>capita</a:t>
            </a:r>
            <a:r>
              <a:rPr lang="zh-TW" altLang="en-US" sz="1800">
                <a:latin typeface="Calibri"/>
                <a:ea typeface="Calibri"/>
                <a:cs typeface="Times New Roman"/>
              </a:rPr>
              <a:t> </a:t>
            </a:r>
            <a:r>
              <a:rPr lang="en-US" sz="1800">
                <a:latin typeface="Calibri"/>
                <a:ea typeface="Calibri"/>
                <a:cs typeface="Times New Roman"/>
              </a:rPr>
              <a:t>to</a:t>
            </a:r>
            <a:r>
              <a:rPr lang="zh-TW" altLang="en-US" sz="1800">
                <a:latin typeface="Calibri"/>
                <a:ea typeface="Calibri"/>
                <a:cs typeface="Times New Roman"/>
              </a:rPr>
              <a:t> </a:t>
            </a:r>
            <a:r>
              <a:rPr lang="en-US" sz="1800">
                <a:latin typeface="Calibri"/>
                <a:ea typeface="Calibri"/>
                <a:cs typeface="Times New Roman"/>
              </a:rPr>
              <a:t>reflect</a:t>
            </a:r>
            <a:r>
              <a:rPr lang="zh-TW" altLang="en-US" sz="1800">
                <a:latin typeface="Calibri"/>
                <a:ea typeface="Calibri"/>
                <a:cs typeface="Times New Roman"/>
              </a:rPr>
              <a:t> </a:t>
            </a:r>
            <a:r>
              <a:rPr lang="en-US" sz="1800">
                <a:latin typeface="Calibri"/>
                <a:ea typeface="Calibri"/>
                <a:cs typeface="Times New Roman"/>
              </a:rPr>
              <a:t>economic</a:t>
            </a:r>
            <a:r>
              <a:rPr lang="zh-TW" altLang="en-US" sz="1800">
                <a:latin typeface="Calibri"/>
                <a:ea typeface="Calibri"/>
                <a:cs typeface="Times New Roman"/>
              </a:rPr>
              <a:t> </a:t>
            </a:r>
            <a:r>
              <a:rPr lang="en-US" sz="1800">
                <a:latin typeface="Calibri"/>
                <a:ea typeface="Calibri"/>
                <a:cs typeface="Times New Roman"/>
              </a:rPr>
              <a:t>context</a:t>
            </a:r>
            <a:endParaRPr lang="en-US" sz="1800">
              <a:solidFill>
                <a:srgbClr val="000000"/>
              </a:solidFill>
              <a:latin typeface="Calibri"/>
              <a:ea typeface="Calibri"/>
              <a:cs typeface="Times New Roman"/>
            </a:endParaRPr>
          </a:p>
          <a:p>
            <a:pPr marL="285750" indent="-285750"/>
            <a:r>
              <a:rPr lang="en-US" sz="1800">
                <a:latin typeface="Calibri"/>
                <a:ea typeface="Calibri"/>
                <a:cs typeface="Times New Roman"/>
              </a:rPr>
              <a:t>Assess</a:t>
            </a:r>
            <a:r>
              <a:rPr lang="zh-TW" altLang="en-US" sz="1800">
                <a:latin typeface="Calibri"/>
                <a:ea typeface="Calibri"/>
                <a:cs typeface="Times New Roman"/>
              </a:rPr>
              <a:t> </a:t>
            </a:r>
            <a:r>
              <a:rPr lang="en-US" sz="1800" b="1">
                <a:latin typeface="Calibri"/>
                <a:ea typeface="Calibri"/>
                <a:cs typeface="Times New Roman"/>
              </a:rPr>
              <a:t>food</a:t>
            </a:r>
            <a:r>
              <a:rPr lang="zh-TW" altLang="en-US" sz="1800" b="1">
                <a:latin typeface="Calibri"/>
                <a:ea typeface="Calibri"/>
                <a:cs typeface="Times New Roman"/>
              </a:rPr>
              <a:t> </a:t>
            </a:r>
            <a:r>
              <a:rPr lang="en-US" sz="1800" b="1">
                <a:latin typeface="Calibri"/>
                <a:ea typeface="Calibri"/>
                <a:cs typeface="Times New Roman"/>
              </a:rPr>
              <a:t>supply</a:t>
            </a:r>
            <a:r>
              <a:rPr lang="zh-TW" altLang="en-US" sz="1800" b="1">
                <a:latin typeface="Calibri"/>
                <a:ea typeface="Calibri"/>
                <a:cs typeface="Times New Roman"/>
              </a:rPr>
              <a:t> </a:t>
            </a:r>
            <a:r>
              <a:rPr lang="en-US" sz="1800" b="1">
                <a:latin typeface="Calibri"/>
                <a:ea typeface="Calibri"/>
                <a:cs typeface="Times New Roman"/>
              </a:rPr>
              <a:t>chain</a:t>
            </a:r>
            <a:r>
              <a:rPr lang="zh-TW" altLang="en-US" sz="1800" b="1">
                <a:latin typeface="Calibri"/>
                <a:ea typeface="Calibri"/>
                <a:cs typeface="Times New Roman"/>
              </a:rPr>
              <a:t> </a:t>
            </a:r>
            <a:r>
              <a:rPr lang="en-US" sz="1800" b="1">
                <a:latin typeface="Calibri"/>
                <a:ea typeface="Calibri"/>
                <a:cs typeface="Times New Roman"/>
              </a:rPr>
              <a:t>efficiency</a:t>
            </a:r>
            <a:endParaRPr lang="en-US" sz="1800">
              <a:solidFill>
                <a:srgbClr val="35403A"/>
              </a:solidFill>
              <a:latin typeface="Calibri"/>
              <a:ea typeface="Calibri"/>
              <a:cs typeface="Times New Roman"/>
            </a:endParaRPr>
          </a:p>
          <a:p>
            <a:pPr marL="285750" indent="-285750"/>
            <a:r>
              <a:rPr lang="en-US" sz="1800">
                <a:latin typeface="Calibri"/>
                <a:ea typeface="Calibri"/>
                <a:cs typeface="Times New Roman"/>
              </a:rPr>
              <a:t>Consider</a:t>
            </a:r>
            <a:r>
              <a:rPr lang="zh-TW" altLang="en-US" sz="1800">
                <a:latin typeface="Calibri"/>
                <a:ea typeface="Calibri"/>
                <a:cs typeface="Times New Roman"/>
              </a:rPr>
              <a:t> </a:t>
            </a:r>
            <a:r>
              <a:rPr lang="en-US" sz="1800" b="1">
                <a:latin typeface="Calibri"/>
                <a:ea typeface="Calibri"/>
                <a:cs typeface="Times New Roman"/>
              </a:rPr>
              <a:t>urbanization</a:t>
            </a:r>
            <a:r>
              <a:rPr lang="zh-TW" altLang="en-US" sz="1800" b="1">
                <a:latin typeface="Calibri"/>
                <a:ea typeface="Calibri"/>
                <a:cs typeface="Times New Roman"/>
              </a:rPr>
              <a:t> </a:t>
            </a:r>
            <a:r>
              <a:rPr lang="en-US" sz="1800" b="1">
                <a:latin typeface="Calibri"/>
                <a:ea typeface="Calibri"/>
                <a:cs typeface="Times New Roman"/>
              </a:rPr>
              <a:t>rates</a:t>
            </a:r>
            <a:r>
              <a:rPr lang="zh-TW" altLang="en-US" sz="1800">
                <a:latin typeface="Calibri"/>
                <a:ea typeface="Calibri"/>
                <a:cs typeface="Times New Roman"/>
              </a:rPr>
              <a:t> </a:t>
            </a:r>
            <a:r>
              <a:rPr lang="en-US" sz="1800">
                <a:latin typeface="Calibri"/>
                <a:ea typeface="Calibri"/>
                <a:cs typeface="Times New Roman"/>
              </a:rPr>
              <a:t>and</a:t>
            </a:r>
            <a:r>
              <a:rPr lang="zh-TW" altLang="en-US" sz="1800">
                <a:latin typeface="Calibri"/>
                <a:ea typeface="Calibri"/>
                <a:cs typeface="Times New Roman"/>
              </a:rPr>
              <a:t> </a:t>
            </a:r>
            <a:r>
              <a:rPr lang="en-US" sz="1800">
                <a:latin typeface="Calibri"/>
                <a:ea typeface="Calibri"/>
                <a:cs typeface="Times New Roman"/>
              </a:rPr>
              <a:t>their</a:t>
            </a:r>
            <a:r>
              <a:rPr lang="zh-TW" altLang="en-US" sz="1800">
                <a:latin typeface="Calibri"/>
                <a:ea typeface="Calibri"/>
                <a:cs typeface="Times New Roman"/>
              </a:rPr>
              <a:t> </a:t>
            </a:r>
            <a:r>
              <a:rPr lang="en-US" sz="1800">
                <a:latin typeface="Calibri"/>
                <a:ea typeface="Calibri"/>
                <a:cs typeface="Times New Roman"/>
              </a:rPr>
              <a:t>impact</a:t>
            </a:r>
            <a:r>
              <a:rPr lang="zh-TW" altLang="en-US" sz="1800">
                <a:latin typeface="Calibri"/>
                <a:ea typeface="Calibri"/>
                <a:cs typeface="Times New Roman"/>
              </a:rPr>
              <a:t> </a:t>
            </a:r>
            <a:r>
              <a:rPr lang="en-US" sz="1800">
                <a:latin typeface="Calibri"/>
                <a:ea typeface="Calibri"/>
                <a:cs typeface="Times New Roman"/>
              </a:rPr>
              <a:t>on</a:t>
            </a:r>
            <a:r>
              <a:rPr lang="zh-TW" altLang="en-US" sz="1800">
                <a:latin typeface="Calibri"/>
                <a:ea typeface="Calibri"/>
                <a:cs typeface="Times New Roman"/>
              </a:rPr>
              <a:t> </a:t>
            </a:r>
            <a:r>
              <a:rPr lang="en-US" sz="1800">
                <a:latin typeface="Calibri"/>
                <a:ea typeface="Calibri"/>
                <a:cs typeface="Times New Roman"/>
              </a:rPr>
              <a:t>consumption/waste</a:t>
            </a:r>
            <a:endParaRPr lang="en-US" sz="1800">
              <a:solidFill>
                <a:srgbClr val="000000"/>
              </a:solidFill>
              <a:latin typeface="Calibri"/>
              <a:ea typeface="Calibri"/>
              <a:cs typeface="Times New Roman"/>
            </a:endParaRPr>
          </a:p>
          <a:p>
            <a:pPr marL="285750" indent="-285750"/>
            <a:r>
              <a:rPr lang="en-US" sz="1800">
                <a:latin typeface="Calibri"/>
                <a:ea typeface="Calibri"/>
                <a:cs typeface="Times New Roman"/>
              </a:rPr>
              <a:t>Integrate</a:t>
            </a:r>
            <a:r>
              <a:rPr lang="zh-TW" altLang="en-US" sz="1800">
                <a:latin typeface="Calibri"/>
                <a:ea typeface="Calibri"/>
                <a:cs typeface="Times New Roman"/>
              </a:rPr>
              <a:t> </a:t>
            </a:r>
            <a:r>
              <a:rPr lang="en-US" sz="1800" b="1">
                <a:latin typeface="Calibri"/>
                <a:ea typeface="Calibri"/>
                <a:cs typeface="Times New Roman"/>
              </a:rPr>
              <a:t>infrastructure</a:t>
            </a:r>
            <a:r>
              <a:rPr lang="zh-TW" altLang="en-US" sz="1800" b="1">
                <a:latin typeface="Calibri"/>
                <a:ea typeface="Calibri"/>
                <a:cs typeface="Times New Roman"/>
              </a:rPr>
              <a:t> </a:t>
            </a:r>
            <a:r>
              <a:rPr lang="en-US" sz="1800" b="1">
                <a:latin typeface="Calibri"/>
                <a:ea typeface="Calibri"/>
                <a:cs typeface="Times New Roman"/>
              </a:rPr>
              <a:t>development</a:t>
            </a:r>
            <a:r>
              <a:rPr lang="zh-TW" altLang="en-US" sz="1800">
                <a:latin typeface="Calibri"/>
                <a:ea typeface="Calibri"/>
                <a:cs typeface="Times New Roman"/>
              </a:rPr>
              <a:t> </a:t>
            </a:r>
            <a:r>
              <a:rPr lang="en-US" sz="1800">
                <a:latin typeface="Calibri"/>
                <a:ea typeface="Calibri"/>
                <a:cs typeface="Times New Roman"/>
              </a:rPr>
              <a:t>indicators</a:t>
            </a:r>
            <a:endParaRPr lang="en-US" sz="1800">
              <a:latin typeface="Calibri"/>
              <a:ea typeface="Calibri"/>
              <a:cs typeface="Calibri"/>
            </a:endParaRPr>
          </a:p>
          <a:p>
            <a:pPr marL="457200" lvl="2" indent="0">
              <a:buNone/>
            </a:pPr>
            <a:endParaRPr lang="en-US" altLang="zh-TW" sz="1800">
              <a:latin typeface="Calibri"/>
              <a:ea typeface="Calibri"/>
              <a:cs typeface="Times New Roman"/>
            </a:endParaRPr>
          </a:p>
          <a:p>
            <a:pPr lvl="2"/>
            <a:endParaRPr lang="en-US" altLang="zh-TW" sz="1800">
              <a:latin typeface="Calibri"/>
              <a:ea typeface="Calibri"/>
              <a:cs typeface="Times New Roman"/>
            </a:endParaRPr>
          </a:p>
          <a:p>
            <a:endParaRPr lang="en-US" sz="1800">
              <a:latin typeface="Calibri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300101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2977D3A-66BC-D486-ABA8-058847EE8B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4975" y="819949"/>
            <a:ext cx="11304465" cy="5994783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228600" lvl="1" indent="-285750">
              <a:buNone/>
            </a:pPr>
            <a:r>
              <a:rPr lang="en-US" sz="1800" b="1">
                <a:solidFill>
                  <a:srgbClr val="005500"/>
                </a:solidFill>
                <a:latin typeface="Calibri"/>
                <a:ea typeface="Calibri"/>
                <a:cs typeface="Calibri"/>
              </a:rPr>
              <a:t>Key takeaways and Implication</a:t>
            </a:r>
            <a:endParaRPr lang="en-US" sz="1800"/>
          </a:p>
          <a:p>
            <a:pPr marL="228600" lvl="1" indent="-285750">
              <a:buNone/>
            </a:pPr>
            <a:r>
              <a:rPr lang="en-US" sz="1600" b="1">
                <a:solidFill>
                  <a:srgbClr val="005500"/>
                </a:solidFill>
                <a:latin typeface="Calibri"/>
                <a:ea typeface="Calibri"/>
                <a:cs typeface="Calibri"/>
              </a:rPr>
              <a:t>Overall</a:t>
            </a:r>
            <a:endParaRPr lang="en-US" altLang="zh-TW" sz="1600" b="1">
              <a:solidFill>
                <a:srgbClr val="005500"/>
              </a:solidFill>
              <a:latin typeface="Calibri"/>
              <a:ea typeface="Calibri"/>
              <a:cs typeface="Times New Roman"/>
            </a:endParaRPr>
          </a:p>
          <a:p>
            <a:pPr marL="171450" indent="-171450">
              <a:buFont typeface="Wingdings" panose="020B0604020202020204" pitchFamily="34" charset="0"/>
              <a:buChar char="v"/>
            </a:pPr>
            <a:r>
              <a:rPr lang="en-US" b="1">
                <a:solidFill>
                  <a:srgbClr val="35403A"/>
                </a:solidFill>
                <a:latin typeface="Calibri"/>
                <a:ea typeface="Calibri"/>
                <a:cs typeface="Calibri"/>
              </a:rPr>
              <a:t> Strong Positive Correlation</a:t>
            </a:r>
            <a:r>
              <a:rPr lang="en-US">
                <a:solidFill>
                  <a:srgbClr val="35403A"/>
                </a:solidFill>
                <a:latin typeface="Calibri"/>
                <a:ea typeface="Calibri"/>
                <a:cs typeface="Calibri"/>
              </a:rPr>
              <a:t> between </a:t>
            </a:r>
            <a:r>
              <a:rPr lang="en-US" b="1">
                <a:solidFill>
                  <a:srgbClr val="35403A"/>
                </a:solidFill>
                <a:latin typeface="Calibri"/>
                <a:ea typeface="Calibri"/>
                <a:cs typeface="Calibri"/>
              </a:rPr>
              <a:t>Food Waste</a:t>
            </a:r>
            <a:r>
              <a:rPr lang="en-US">
                <a:solidFill>
                  <a:srgbClr val="35403A"/>
                </a:solidFill>
                <a:latin typeface="Calibri"/>
                <a:ea typeface="Calibri"/>
                <a:cs typeface="Calibri"/>
              </a:rPr>
              <a:t> and </a:t>
            </a:r>
            <a:r>
              <a:rPr lang="en-US" b="1">
                <a:solidFill>
                  <a:srgbClr val="35403A"/>
                </a:solidFill>
                <a:latin typeface="Calibri"/>
                <a:ea typeface="Calibri"/>
                <a:cs typeface="Calibri"/>
              </a:rPr>
              <a:t>Economic Loss &gt; </a:t>
            </a:r>
            <a:r>
              <a:rPr lang="en-US" b="1">
                <a:solidFill>
                  <a:srgbClr val="00B050"/>
                </a:solidFill>
                <a:latin typeface="Calibri"/>
                <a:ea typeface="Calibri"/>
                <a:cs typeface="Calibri"/>
              </a:rPr>
              <a:t>Global Challenge</a:t>
            </a:r>
          </a:p>
          <a:p>
            <a:pPr lvl="1" indent="-285750">
              <a:buFont typeface="Wingdings" panose="020B0604020202020204" pitchFamily="34" charset="0"/>
              <a:buChar char="Ø"/>
            </a:pPr>
            <a:r>
              <a:rPr lang="en-US" sz="1600">
                <a:solidFill>
                  <a:srgbClr val="35403A"/>
                </a:solidFill>
                <a:latin typeface="Calibri"/>
                <a:ea typeface="Calibri"/>
                <a:cs typeface="Calibri"/>
              </a:rPr>
              <a:t>Food</a:t>
            </a:r>
            <a:r>
              <a:rPr lang="zh-TW" altLang="en-US" sz="1600">
                <a:solidFill>
                  <a:srgbClr val="35403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>
                <a:solidFill>
                  <a:srgbClr val="35403A"/>
                </a:solidFill>
                <a:latin typeface="Calibri"/>
                <a:ea typeface="Calibri"/>
                <a:cs typeface="Calibri"/>
              </a:rPr>
              <a:t>waste</a:t>
            </a:r>
            <a:r>
              <a:rPr lang="zh-TW" altLang="en-US" sz="1600">
                <a:solidFill>
                  <a:srgbClr val="35403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>
                <a:solidFill>
                  <a:srgbClr val="35403A"/>
                </a:solidFill>
                <a:latin typeface="Calibri"/>
                <a:ea typeface="Calibri"/>
                <a:cs typeface="Calibri"/>
              </a:rPr>
              <a:t>isn't</a:t>
            </a:r>
            <a:r>
              <a:rPr lang="zh-TW" altLang="en-US" sz="1600">
                <a:solidFill>
                  <a:srgbClr val="35403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>
                <a:solidFill>
                  <a:srgbClr val="35403A"/>
                </a:solidFill>
                <a:latin typeface="Calibri"/>
                <a:ea typeface="Calibri"/>
                <a:cs typeface="Calibri"/>
              </a:rPr>
              <a:t>just</a:t>
            </a:r>
            <a:r>
              <a:rPr lang="zh-TW" altLang="en-US" sz="1600">
                <a:solidFill>
                  <a:srgbClr val="35403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>
                <a:solidFill>
                  <a:srgbClr val="35403A"/>
                </a:solidFill>
                <a:latin typeface="Calibri"/>
                <a:ea typeface="Calibri"/>
                <a:cs typeface="Calibri"/>
              </a:rPr>
              <a:t>an</a:t>
            </a:r>
            <a:r>
              <a:rPr lang="zh-TW" altLang="en-US" sz="1600">
                <a:solidFill>
                  <a:srgbClr val="35403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>
                <a:solidFill>
                  <a:srgbClr val="35403A"/>
                </a:solidFill>
                <a:latin typeface="Calibri"/>
                <a:ea typeface="Calibri"/>
                <a:cs typeface="Calibri"/>
              </a:rPr>
              <a:t>environmental</a:t>
            </a:r>
            <a:r>
              <a:rPr lang="zh-TW" altLang="en-US" sz="1600">
                <a:solidFill>
                  <a:srgbClr val="35403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>
                <a:solidFill>
                  <a:srgbClr val="35403A"/>
                </a:solidFill>
                <a:latin typeface="Calibri"/>
                <a:ea typeface="Calibri"/>
                <a:cs typeface="Calibri"/>
              </a:rPr>
              <a:t>issue—it</a:t>
            </a:r>
            <a:r>
              <a:rPr lang="zh-TW" altLang="en-US" sz="1600">
                <a:solidFill>
                  <a:srgbClr val="35403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>
                <a:solidFill>
                  <a:srgbClr val="35403A"/>
                </a:solidFill>
                <a:latin typeface="Calibri"/>
                <a:ea typeface="Calibri"/>
                <a:cs typeface="Calibri"/>
              </a:rPr>
              <a:t>carries</a:t>
            </a:r>
            <a:r>
              <a:rPr lang="zh-TW" altLang="en-US" sz="1600">
                <a:solidFill>
                  <a:srgbClr val="35403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>
                <a:solidFill>
                  <a:srgbClr val="35403A"/>
                </a:solidFill>
                <a:latin typeface="Calibri"/>
                <a:ea typeface="Calibri"/>
                <a:cs typeface="Calibri"/>
              </a:rPr>
              <a:t>a</a:t>
            </a:r>
            <a:r>
              <a:rPr lang="zh-TW" altLang="en-US" sz="1600">
                <a:solidFill>
                  <a:srgbClr val="35403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b="1">
                <a:solidFill>
                  <a:srgbClr val="35403A"/>
                </a:solidFill>
                <a:latin typeface="Calibri"/>
                <a:ea typeface="Calibri"/>
                <a:cs typeface="Calibri"/>
              </a:rPr>
              <a:t>significant</a:t>
            </a:r>
            <a:r>
              <a:rPr lang="zh-TW" altLang="en-US" sz="1600" b="1">
                <a:solidFill>
                  <a:srgbClr val="35403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b="1">
                <a:solidFill>
                  <a:srgbClr val="35403A"/>
                </a:solidFill>
                <a:latin typeface="Calibri"/>
                <a:ea typeface="Calibri"/>
                <a:cs typeface="Calibri"/>
              </a:rPr>
              <a:t>economic</a:t>
            </a:r>
            <a:r>
              <a:rPr lang="zh-TW" altLang="en-US" sz="1600" b="1">
                <a:solidFill>
                  <a:srgbClr val="35403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b="1">
                <a:solidFill>
                  <a:srgbClr val="35403A"/>
                </a:solidFill>
                <a:latin typeface="Calibri"/>
                <a:ea typeface="Calibri"/>
                <a:cs typeface="Calibri"/>
              </a:rPr>
              <a:t>cost</a:t>
            </a:r>
            <a:r>
              <a:rPr lang="zh-TW" altLang="en-US" sz="1600">
                <a:solidFill>
                  <a:srgbClr val="35403A"/>
                </a:solidFill>
                <a:latin typeface="Calibri"/>
                <a:ea typeface="Calibri"/>
                <a:cs typeface="Calibri"/>
              </a:rPr>
              <a:t> globally </a:t>
            </a:r>
            <a:r>
              <a:rPr lang="en-US" sz="1600">
                <a:solidFill>
                  <a:srgbClr val="35403A"/>
                </a:solidFill>
                <a:latin typeface="Calibri"/>
                <a:ea typeface="Calibri"/>
                <a:cs typeface="Calibri"/>
              </a:rPr>
              <a:t>year</a:t>
            </a:r>
            <a:r>
              <a:rPr lang="zh-TW" altLang="en-US" sz="1600">
                <a:solidFill>
                  <a:srgbClr val="35403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>
                <a:solidFill>
                  <a:srgbClr val="35403A"/>
                </a:solidFill>
                <a:latin typeface="Calibri"/>
                <a:ea typeface="Calibri"/>
                <a:cs typeface="Calibri"/>
              </a:rPr>
              <a:t>after</a:t>
            </a:r>
            <a:r>
              <a:rPr lang="zh-TW" altLang="en-US" sz="1600">
                <a:solidFill>
                  <a:srgbClr val="35403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>
                <a:solidFill>
                  <a:srgbClr val="35403A"/>
                </a:solidFill>
                <a:latin typeface="Calibri"/>
                <a:ea typeface="Calibri"/>
                <a:cs typeface="Calibri"/>
              </a:rPr>
              <a:t>year</a:t>
            </a:r>
            <a:endParaRPr lang="en-US" sz="1600"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altLang="zh-TW" b="1">
                <a:solidFill>
                  <a:srgbClr val="005500"/>
                </a:solidFill>
                <a:latin typeface="Calibri"/>
                <a:ea typeface="Calibri"/>
                <a:cs typeface="Times New Roman"/>
              </a:rPr>
              <a:t> Country Level (</a:t>
            </a:r>
            <a:r>
              <a:rPr lang="en-US" b="1">
                <a:solidFill>
                  <a:srgbClr val="005500"/>
                </a:solidFill>
                <a:latin typeface="Calibri"/>
                <a:ea typeface="Calibri"/>
                <a:cs typeface="Calibri"/>
              </a:rPr>
              <a:t>Developed vs. Developing Countries)</a:t>
            </a:r>
            <a:endParaRPr lang="zh-TW" altLang="en-US" b="1">
              <a:solidFill>
                <a:srgbClr val="005500"/>
              </a:solidFill>
              <a:latin typeface="Calibri"/>
              <a:ea typeface="Calibri"/>
              <a:cs typeface="Times New Roman"/>
            </a:endParaRPr>
          </a:p>
          <a:p>
            <a:pPr>
              <a:buFont typeface="Wingdings"/>
              <a:buChar char="v"/>
            </a:pPr>
            <a:r>
              <a:rPr lang="en-US" altLang="zh-TW">
                <a:solidFill>
                  <a:srgbClr val="35403A"/>
                </a:solidFill>
                <a:latin typeface="Calibri"/>
                <a:ea typeface="Calibri"/>
                <a:cs typeface="Times New Roman"/>
              </a:rPr>
              <a:t> Top Food Waste &amp; Economic Loss Countries: </a:t>
            </a:r>
            <a:r>
              <a:rPr lang="en-US" altLang="zh-TW" b="1">
                <a:solidFill>
                  <a:srgbClr val="35403A"/>
                </a:solidFill>
                <a:latin typeface="Calibri"/>
                <a:ea typeface="Calibri"/>
                <a:cs typeface="Times New Roman"/>
              </a:rPr>
              <a:t>Developing country -- </a:t>
            </a:r>
            <a:r>
              <a:rPr lang="en-US" b="1">
                <a:solidFill>
                  <a:srgbClr val="2081C7"/>
                </a:solidFill>
                <a:latin typeface="Calibri"/>
                <a:ea typeface="Calibri"/>
                <a:cs typeface="Calibri"/>
              </a:rPr>
              <a:t>Spain, Turkey </a:t>
            </a:r>
            <a:r>
              <a:rPr lang="en-US" b="1">
                <a:solidFill>
                  <a:srgbClr val="35403A"/>
                </a:solidFill>
                <a:latin typeface="Calibri"/>
                <a:ea typeface="Calibri"/>
                <a:cs typeface="Calibri"/>
              </a:rPr>
              <a:t>; Developed Country --</a:t>
            </a:r>
            <a:r>
              <a:rPr lang="en-US" b="1">
                <a:solidFill>
                  <a:srgbClr val="FF9100"/>
                </a:solidFill>
                <a:latin typeface="Calibri"/>
                <a:ea typeface="Calibri"/>
                <a:cs typeface="Calibri"/>
              </a:rPr>
              <a:t> Canada</a:t>
            </a:r>
          </a:p>
          <a:p>
            <a:pPr>
              <a:buFont typeface="Wingdings" panose="020B0604020202020204" pitchFamily="34" charset="0"/>
              <a:buChar char="v"/>
            </a:pPr>
            <a:r>
              <a:rPr lang="en-US" b="1">
                <a:solidFill>
                  <a:srgbClr val="2081C7"/>
                </a:solidFill>
                <a:latin typeface="Calibri"/>
                <a:ea typeface="Calibri"/>
                <a:cs typeface="Calibri"/>
              </a:rPr>
              <a:t>Developing countries</a:t>
            </a:r>
            <a:r>
              <a:rPr lang="en-US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>
                <a:latin typeface="Calibri"/>
                <a:ea typeface="Calibri"/>
                <a:cs typeface="Calibri"/>
              </a:rPr>
              <a:t>show</a:t>
            </a:r>
            <a:r>
              <a:rPr lang="en-US" b="1">
                <a:latin typeface="Calibri"/>
                <a:ea typeface="Calibri"/>
                <a:cs typeface="Calibri"/>
              </a:rPr>
              <a:t> consistently higher food waste and economic losses</a:t>
            </a:r>
            <a:r>
              <a:rPr lang="en-US">
                <a:latin typeface="Calibri"/>
                <a:ea typeface="Calibri"/>
                <a:cs typeface="Calibri"/>
              </a:rPr>
              <a:t> compared to developed countries</a:t>
            </a:r>
            <a:endParaRPr lang="en-US" altLang="zh-TW">
              <a:latin typeface="Calibri"/>
              <a:ea typeface="Calibri"/>
              <a:cs typeface="Calibri"/>
            </a:endParaRPr>
          </a:p>
          <a:p>
            <a:pPr marL="228600">
              <a:buFont typeface="Wingdings" panose="020B0604020202020204" pitchFamily="34" charset="0"/>
              <a:buChar char="v"/>
            </a:pPr>
            <a:r>
              <a:rPr lang="en-US" altLang="zh-TW" b="1">
                <a:latin typeface="Calibri"/>
                <a:ea typeface="Calibri"/>
                <a:cs typeface="Times New Roman"/>
              </a:rPr>
              <a:t>Household food waste</a:t>
            </a:r>
            <a:r>
              <a:rPr lang="en-US" altLang="zh-TW">
                <a:latin typeface="Calibri"/>
                <a:ea typeface="Calibri"/>
                <a:cs typeface="Times New Roman"/>
              </a:rPr>
              <a:t> tends to be </a:t>
            </a:r>
            <a:r>
              <a:rPr lang="en-US" altLang="zh-TW" b="1">
                <a:latin typeface="Calibri"/>
                <a:ea typeface="Calibri"/>
                <a:cs typeface="Times New Roman"/>
              </a:rPr>
              <a:t>lower </a:t>
            </a:r>
            <a:r>
              <a:rPr lang="en-US" altLang="zh-TW">
                <a:latin typeface="Calibri"/>
                <a:ea typeface="Calibri"/>
                <a:cs typeface="Times New Roman"/>
              </a:rPr>
              <a:t>in developed countries</a:t>
            </a:r>
          </a:p>
          <a:p>
            <a:pPr marL="514350" lvl="1" indent="-285750">
              <a:buFont typeface="Wingdings" panose="020B0604020202020204" pitchFamily="34" charset="0"/>
              <a:buChar char="Ø"/>
            </a:pPr>
            <a:r>
              <a:rPr lang="en-US" sz="1600">
                <a:latin typeface="Calibri"/>
                <a:ea typeface="Calibri"/>
                <a:cs typeface="Calibri"/>
              </a:rPr>
              <a:t>Likely due to stronger </a:t>
            </a:r>
            <a:r>
              <a:rPr lang="en-US" sz="1600" b="1">
                <a:latin typeface="Calibri"/>
                <a:ea typeface="Calibri"/>
                <a:cs typeface="Calibri"/>
              </a:rPr>
              <a:t>awareness</a:t>
            </a:r>
            <a:r>
              <a:rPr lang="en-US" sz="1600">
                <a:latin typeface="Calibri"/>
                <a:ea typeface="Calibri"/>
                <a:cs typeface="Calibri"/>
              </a:rPr>
              <a:t>, </a:t>
            </a:r>
            <a:r>
              <a:rPr lang="en-US" sz="1600" b="1">
                <a:latin typeface="Calibri"/>
                <a:ea typeface="Calibri"/>
                <a:cs typeface="Calibri"/>
              </a:rPr>
              <a:t>education</a:t>
            </a:r>
            <a:r>
              <a:rPr lang="en-US" sz="1600">
                <a:latin typeface="Calibri"/>
                <a:ea typeface="Calibri"/>
                <a:cs typeface="Calibri"/>
              </a:rPr>
              <a:t>, and </a:t>
            </a:r>
            <a:r>
              <a:rPr lang="en-US" sz="1600" b="1">
                <a:latin typeface="Calibri"/>
                <a:ea typeface="Calibri"/>
                <a:cs typeface="Calibri"/>
              </a:rPr>
              <a:t>recycling infrastructure</a:t>
            </a:r>
            <a:endParaRPr lang="en-US" altLang="zh-TW" sz="1600">
              <a:latin typeface="Calibri"/>
              <a:ea typeface="Calibri"/>
              <a:cs typeface="Times New Roman"/>
            </a:endParaRPr>
          </a:p>
          <a:p>
            <a:pPr>
              <a:buFont typeface="Wingdings"/>
              <a:buChar char="v"/>
            </a:pPr>
            <a:r>
              <a:rPr lang="en-US">
                <a:latin typeface="Calibri"/>
                <a:ea typeface="Calibri"/>
                <a:cs typeface="Calibri"/>
              </a:rPr>
              <a:t>Population: </a:t>
            </a:r>
            <a:r>
              <a:rPr lang="en-US" b="1">
                <a:latin typeface="Calibri"/>
                <a:ea typeface="Calibri"/>
                <a:cs typeface="Calibri"/>
              </a:rPr>
              <a:t>No clear correlation </a:t>
            </a:r>
            <a:r>
              <a:rPr lang="en-US">
                <a:latin typeface="Calibri"/>
                <a:ea typeface="Calibri"/>
                <a:cs typeface="Calibri"/>
              </a:rPr>
              <a:t>between </a:t>
            </a:r>
            <a:r>
              <a:rPr lang="en-US" b="1">
                <a:latin typeface="Calibri"/>
                <a:ea typeface="Calibri"/>
                <a:cs typeface="Calibri"/>
              </a:rPr>
              <a:t>population size</a:t>
            </a:r>
            <a:r>
              <a:rPr lang="en-US">
                <a:latin typeface="Calibri"/>
                <a:ea typeface="Calibri"/>
                <a:cs typeface="Calibri"/>
              </a:rPr>
              <a:t> and </a:t>
            </a:r>
            <a:r>
              <a:rPr lang="en-US" b="1">
                <a:latin typeface="Calibri"/>
                <a:ea typeface="Calibri"/>
                <a:cs typeface="Calibri"/>
              </a:rPr>
              <a:t>food waste levels</a:t>
            </a:r>
            <a:endParaRPr lang="zh-TW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514350" lvl="1" indent="-285750">
              <a:buFont typeface="Wingdings"/>
              <a:buChar char="Ø"/>
            </a:pPr>
            <a:r>
              <a:rPr lang="en-US" sz="1600">
                <a:latin typeface="Calibri"/>
                <a:ea typeface="Calibri"/>
                <a:cs typeface="Calibri"/>
              </a:rPr>
              <a:t>High food consumption does </a:t>
            </a:r>
            <a:r>
              <a:rPr lang="en-US" sz="1600" b="1">
                <a:latin typeface="Calibri"/>
                <a:ea typeface="Calibri"/>
                <a:cs typeface="Calibri"/>
              </a:rPr>
              <a:t>not necessarily</a:t>
            </a:r>
            <a:r>
              <a:rPr lang="en-US" sz="1600">
                <a:latin typeface="Calibri"/>
                <a:ea typeface="Calibri"/>
                <a:cs typeface="Calibri"/>
              </a:rPr>
              <a:t> result in greater waste</a:t>
            </a:r>
          </a:p>
          <a:p>
            <a:pPr marL="0" indent="0">
              <a:buNone/>
            </a:pPr>
            <a:r>
              <a:rPr lang="en-US" altLang="zh-TW" b="1">
                <a:solidFill>
                  <a:srgbClr val="005500"/>
                </a:solidFill>
                <a:latin typeface="Calibri"/>
                <a:ea typeface="Calibri"/>
                <a:cs typeface="Times New Roman"/>
              </a:rPr>
              <a:t>Food Category Level</a:t>
            </a:r>
          </a:p>
          <a:p>
            <a:pPr>
              <a:buFont typeface="Wingdings" panose="020B0604020202020204" pitchFamily="34" charset="0"/>
              <a:buChar char="v"/>
            </a:pPr>
            <a:r>
              <a:rPr lang="en-US" altLang="zh-TW">
                <a:latin typeface="Calibri"/>
                <a:ea typeface="Calibri"/>
                <a:cs typeface="Times New Roman"/>
              </a:rPr>
              <a:t> </a:t>
            </a:r>
            <a:r>
              <a:rPr lang="en-US" altLang="zh-TW" b="1">
                <a:solidFill>
                  <a:schemeClr val="accent2">
                    <a:lumMod val="49000"/>
                  </a:schemeClr>
                </a:solidFill>
                <a:latin typeface="Calibri"/>
                <a:ea typeface="Calibri"/>
                <a:cs typeface="Times New Roman"/>
              </a:rPr>
              <a:t>Prepared food</a:t>
            </a:r>
            <a:r>
              <a:rPr lang="en-US" altLang="zh-TW" b="1">
                <a:latin typeface="Calibri"/>
                <a:ea typeface="Calibri"/>
                <a:cs typeface="Times New Roman"/>
              </a:rPr>
              <a:t> </a:t>
            </a:r>
            <a:r>
              <a:rPr lang="en-US" altLang="zh-TW">
                <a:latin typeface="Calibri"/>
                <a:ea typeface="Calibri"/>
                <a:cs typeface="Times New Roman"/>
              </a:rPr>
              <a:t>is a </a:t>
            </a:r>
            <a:r>
              <a:rPr lang="en-US" altLang="zh-TW" b="1">
                <a:latin typeface="Calibri"/>
                <a:ea typeface="Calibri"/>
                <a:cs typeface="Times New Roman"/>
              </a:rPr>
              <a:t>leading contributor</a:t>
            </a:r>
            <a:r>
              <a:rPr lang="en-US" altLang="zh-TW">
                <a:latin typeface="Calibri"/>
                <a:ea typeface="Calibri"/>
                <a:cs typeface="Times New Roman"/>
              </a:rPr>
              <a:t> to global food waste &amp; economic loss</a:t>
            </a:r>
            <a:endParaRPr lang="en-US" altLang="zh-TW" sz="1800">
              <a:latin typeface="Calibri"/>
              <a:ea typeface="Calibri"/>
              <a:cs typeface="Times New Roman"/>
            </a:endParaRPr>
          </a:p>
          <a:p>
            <a:pPr lvl="1" indent="-285750">
              <a:buFont typeface="Wingdings" panose="020B0604020202020204" pitchFamily="34" charset="0"/>
              <a:buChar char="Ø"/>
            </a:pPr>
            <a:r>
              <a:rPr lang="en-US" altLang="zh-TW" sz="1600">
                <a:latin typeface="Calibri"/>
                <a:ea typeface="Calibri"/>
                <a:cs typeface="Times New Roman"/>
              </a:rPr>
              <a:t>Underscores its role as a </a:t>
            </a:r>
            <a:r>
              <a:rPr lang="en-US" altLang="zh-TW" sz="1600" b="1">
                <a:latin typeface="Calibri"/>
                <a:ea typeface="Calibri"/>
                <a:cs typeface="Times New Roman"/>
              </a:rPr>
              <a:t>mainstream form of consumption</a:t>
            </a:r>
            <a:r>
              <a:rPr lang="en-US" altLang="zh-TW" sz="1600">
                <a:latin typeface="Calibri"/>
                <a:ea typeface="Calibri"/>
                <a:cs typeface="Times New Roman"/>
              </a:rPr>
              <a:t> worldwide</a:t>
            </a:r>
            <a:endParaRPr lang="en-US" sz="1800">
              <a:latin typeface="Calibri"/>
              <a:ea typeface="Calibri"/>
              <a:cs typeface="Times New Roman"/>
            </a:endParaRPr>
          </a:p>
          <a:p>
            <a:pPr lvl="1" indent="-285750">
              <a:buFont typeface="Wingdings" panose="020B0604020202020204" pitchFamily="34" charset="0"/>
              <a:buChar char="Ø"/>
            </a:pPr>
            <a:r>
              <a:rPr lang="en-US" sz="1600">
                <a:latin typeface="Calibri"/>
                <a:ea typeface="Calibri"/>
                <a:cs typeface="Calibri"/>
              </a:rPr>
              <a:t>a </a:t>
            </a:r>
            <a:r>
              <a:rPr lang="en-US" sz="1600" b="1">
                <a:latin typeface="Calibri"/>
                <a:ea typeface="Calibri"/>
                <a:cs typeface="Calibri"/>
              </a:rPr>
              <a:t>potential focus area</a:t>
            </a:r>
            <a:r>
              <a:rPr lang="en-US" sz="1600">
                <a:latin typeface="Calibri"/>
                <a:ea typeface="Calibri"/>
                <a:cs typeface="Calibri"/>
              </a:rPr>
              <a:t> for reducing global food waste &amp; economic loss</a:t>
            </a:r>
            <a:endParaRPr lang="en-US" sz="1800">
              <a:latin typeface="Calibri"/>
              <a:ea typeface="Calibri"/>
              <a:cs typeface="Times New Roman"/>
            </a:endParaRPr>
          </a:p>
          <a:p>
            <a:pPr>
              <a:buFont typeface="Wingdings" panose="020B0604020202020204" pitchFamily="34" charset="0"/>
              <a:buChar char="v"/>
            </a:pPr>
            <a:endParaRPr lang="en-US" altLang="zh-TW">
              <a:latin typeface="Calibri"/>
              <a:ea typeface="Calibri"/>
              <a:cs typeface="Times New Roman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E09367AB-81D2-9592-B12A-B24F46EED11C}"/>
              </a:ext>
            </a:extLst>
          </p:cNvPr>
          <p:cNvSpPr txBox="1">
            <a:spLocks/>
          </p:cNvSpPr>
          <p:nvPr/>
        </p:nvSpPr>
        <p:spPr>
          <a:xfrm>
            <a:off x="553608" y="-2910"/>
            <a:ext cx="10449784" cy="8305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>
                <a:solidFill>
                  <a:srgbClr val="005500"/>
                </a:solidFill>
                <a:latin typeface="Dubai"/>
                <a:ea typeface="+mj-lt"/>
                <a:cs typeface="+mj-lt"/>
              </a:rPr>
              <a:t>Conclusion</a:t>
            </a:r>
            <a:endParaRPr lang="en-US" b="1">
              <a:solidFill>
                <a:srgbClr val="005500"/>
              </a:solidFill>
              <a:latin typeface="Dubai"/>
            </a:endParaRPr>
          </a:p>
        </p:txBody>
      </p:sp>
      <p:pic>
        <p:nvPicPr>
          <p:cNvPr id="14" name="Picture 13" descr="A green dumpster full of money&#10;&#10;AI-generated content may be incorrect.">
            <a:extLst>
              <a:ext uri="{FF2B5EF4-FFF2-40B4-BE49-F238E27FC236}">
                <a16:creationId xmlns:a16="http://schemas.microsoft.com/office/drawing/2014/main" id="{59BDDEEB-1CD8-587D-D8BB-8602001E59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7329" y="3532717"/>
            <a:ext cx="2945342" cy="298873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7994090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757C524-77A4-A4E8-F3C2-E2BAA109B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zh-TW" altLang="en-US" b="1">
                <a:solidFill>
                  <a:srgbClr val="005500"/>
                </a:solidFill>
                <a:latin typeface="Dubai"/>
                <a:ea typeface="新細明體"/>
                <a:cs typeface="Dubai"/>
              </a:rPr>
              <a:t>Reference</a:t>
            </a:r>
            <a:endParaRPr lang="zh-TW" altLang="en-US" b="1">
              <a:solidFill>
                <a:srgbClr val="005500"/>
              </a:solidFill>
              <a:latin typeface="Dubai"/>
              <a:cs typeface="Dubai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434099C-94BF-E489-CFA0-9030889E49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1255" y="1474812"/>
            <a:ext cx="10914162" cy="3903819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342900" indent="-342900">
              <a:buAutoNum type="arabicPeriod"/>
            </a:pPr>
            <a:r>
              <a:rPr lang="zh-TW">
                <a:solidFill>
                  <a:schemeClr val="tx1"/>
                </a:solidFill>
                <a:latin typeface="Calibri"/>
                <a:ea typeface="+mn-lt"/>
                <a:cs typeface="+mn-l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https://www.wastereduction.gov.hk/</a:t>
            </a:r>
            <a:r>
              <a:rPr lang="en-US" altLang="zh-TW">
                <a:solidFill>
                  <a:schemeClr val="tx1"/>
                </a:solidFill>
                <a:latin typeface="Calibri"/>
                <a:ea typeface="+mn-lt"/>
                <a:cs typeface="+mn-l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en-hk/waste-reduction-programme/greencommunity</a:t>
            </a:r>
            <a:r>
              <a:rPr lang="zh-TW">
                <a:solidFill>
                  <a:schemeClr val="tx1"/>
                </a:solidFill>
                <a:latin typeface="Calibri"/>
                <a:ea typeface="+mn-lt"/>
                <a:cs typeface="+mn-lt"/>
              </a:rPr>
              <a:t> </a:t>
            </a:r>
          </a:p>
          <a:p>
            <a:pPr marL="342900" indent="-342900">
              <a:buAutoNum type="arabicPeriod"/>
            </a:pPr>
            <a:r>
              <a:rPr lang="zh-TW">
                <a:solidFill>
                  <a:schemeClr val="tx1"/>
                </a:solidFill>
                <a:latin typeface="Calibri"/>
                <a:ea typeface="+mn-lt"/>
                <a:cs typeface="+mn-l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https://www.foodwasterecycling.hk/Smart_Bin_Locations.pdf</a:t>
            </a:r>
            <a:r>
              <a:rPr lang="zh-TW">
                <a:solidFill>
                  <a:schemeClr val="tx1"/>
                </a:solidFill>
                <a:latin typeface="Calibri"/>
                <a:ea typeface="+mn-lt"/>
                <a:cs typeface="+mn-lt"/>
              </a:rPr>
              <a:t> </a:t>
            </a:r>
          </a:p>
          <a:p>
            <a:pPr marL="342900" indent="-342900">
              <a:buAutoNum type="arabicPeriod"/>
            </a:pPr>
            <a:r>
              <a:rPr lang="zh-TW">
                <a:solidFill>
                  <a:schemeClr val="tx1"/>
                </a:solidFill>
                <a:latin typeface="Calibri"/>
                <a:ea typeface="+mn-lt"/>
                <a:cs typeface="+mn-l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https://www.epd.gov.hk/epd/english/environmentinhk/waste/prob_solutions/food_waste_challenge.html</a:t>
            </a:r>
            <a:r>
              <a:rPr lang="zh-TW">
                <a:solidFill>
                  <a:schemeClr val="tx1"/>
                </a:solidFill>
                <a:latin typeface="Calibri"/>
                <a:ea typeface="+mn-lt"/>
                <a:cs typeface="+mn-lt"/>
              </a:rPr>
              <a:t> </a:t>
            </a:r>
          </a:p>
          <a:p>
            <a:pPr marL="342900" indent="-342900">
              <a:buAutoNum type="arabicPeriod"/>
            </a:pPr>
            <a:r>
              <a:rPr lang="zh-TW">
                <a:solidFill>
                  <a:schemeClr val="tx1"/>
                </a:solidFill>
                <a:latin typeface="Calibri"/>
                <a:ea typeface="+mn-lt"/>
                <a:cs typeface="+mn-l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https://wedocs.unep.org/handle/20.500.11822/45230</a:t>
            </a:r>
            <a:r>
              <a:rPr lang="zh-TW">
                <a:solidFill>
                  <a:schemeClr val="tx1"/>
                </a:solidFill>
                <a:latin typeface="Calibri"/>
                <a:ea typeface="+mn-lt"/>
                <a:cs typeface="+mn-lt"/>
              </a:rPr>
              <a:t> </a:t>
            </a:r>
          </a:p>
          <a:p>
            <a:pPr marL="342900" indent="-342900">
              <a:buAutoNum type="arabicPeriod"/>
            </a:pPr>
            <a:r>
              <a:rPr lang="zh-TW">
                <a:solidFill>
                  <a:schemeClr val="tx1"/>
                </a:solidFill>
                <a:latin typeface="Calibri"/>
                <a:ea typeface="+mn-lt"/>
                <a:cs typeface="+mn-l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https://www.kaggle.com/datasets/atharvasoundankar/global-food-wastage-dataset-2018-2024/data</a:t>
            </a:r>
            <a:endParaRPr lang="zh-TW" altLang="en-US">
              <a:solidFill>
                <a:schemeClr val="tx1"/>
              </a:solidFill>
              <a:latin typeface="Calibri"/>
              <a:ea typeface="新細明體" panose="02020500000000000000" pitchFamily="18" charset="-120"/>
              <a:cs typeface="+mn-lt"/>
              <a:hlinkClick r:id="" action="ppaction://noaction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342900" indent="-342900">
              <a:buAutoNum type="arabicPeriod"/>
            </a:pPr>
            <a:r>
              <a:rPr lang="en-US" altLang="zh-TW">
                <a:solidFill>
                  <a:schemeClr val="tx1"/>
                </a:solidFill>
                <a:latin typeface="Calibri"/>
                <a:ea typeface="+mn-lt"/>
                <a:cs typeface="+mn-lt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https://www.un.org/en/development/desa/policy/wesp/wesp_current/2014wesp_country_classification.pdf</a:t>
            </a:r>
          </a:p>
        </p:txBody>
      </p:sp>
    </p:spTree>
    <p:extLst>
      <p:ext uri="{BB962C8B-B14F-4D97-AF65-F5344CB8AC3E}">
        <p14:creationId xmlns:p14="http://schemas.microsoft.com/office/powerpoint/2010/main" val="1438013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78F4CD-24C8-5800-A353-E8AC91CC3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A62C30D-D6E2-43A6-D1F5-FCA1737053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1108" y="588245"/>
            <a:ext cx="10449784" cy="569341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zh-TW" altLang="en-US" sz="9600">
                <a:solidFill>
                  <a:srgbClr val="005500"/>
                </a:solidFill>
                <a:latin typeface="STXingkai"/>
                <a:ea typeface="STXingkai"/>
                <a:cs typeface="Dubai"/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4119460238"/>
      </p:ext>
    </p:extLst>
  </p:cSld>
  <p:clrMapOvr>
    <a:masterClrMapping/>
  </p:clrMapOvr>
</p:sld>
</file>

<file path=ppt/theme/theme1.xml><?xml version="1.0" encoding="utf-8"?>
<a:theme xmlns:a="http://schemas.openxmlformats.org/drawingml/2006/main" name="BohoVogueVTI">
  <a:themeElements>
    <a:clrScheme name="BohoVogueVTI">
      <a:dk1>
        <a:sysClr val="windowText" lastClr="000000"/>
      </a:dk1>
      <a:lt1>
        <a:sysClr val="window" lastClr="FFFFFF"/>
      </a:lt1>
      <a:dk2>
        <a:srgbClr val="35403A"/>
      </a:dk2>
      <a:lt2>
        <a:srgbClr val="F1EFEB"/>
      </a:lt2>
      <a:accent1>
        <a:srgbClr val="9E8B50"/>
      </a:accent1>
      <a:accent2>
        <a:srgbClr val="D5966B"/>
      </a:accent2>
      <a:accent3>
        <a:srgbClr val="9BA6BB"/>
      </a:accent3>
      <a:accent4>
        <a:srgbClr val="869880"/>
      </a:accent4>
      <a:accent5>
        <a:srgbClr val="588267"/>
      </a:accent5>
      <a:accent6>
        <a:srgbClr val="B89C46"/>
      </a:accent6>
      <a:hlink>
        <a:srgbClr val="C77138"/>
      </a:hlink>
      <a:folHlink>
        <a:srgbClr val="589374"/>
      </a:folHlink>
    </a:clrScheme>
    <a:fontScheme name="BohoVogueVTI">
      <a:majorFont>
        <a:latin typeface="Walbaum Display"/>
        <a:ea typeface=""/>
        <a:cs typeface=""/>
      </a:majorFont>
      <a:minorFont>
        <a:latin typeface="Aptos Light"/>
        <a:ea typeface=""/>
        <a:cs typeface=""/>
      </a:minorFont>
    </a:fontScheme>
    <a:fmtScheme name="BohoVogue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BohoVogueVTI" id="{587E0025-A466-4551-A341-1A9F570FDF06}" vid="{F615CBBD-D1BB-4663-887F-92A47C7C6AB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1439</Words>
  <Application>Microsoft Office PowerPoint</Application>
  <PresentationFormat>Widescreen</PresentationFormat>
  <Paragraphs>69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20" baseType="lpstr">
      <vt:lpstr>STXingkai</vt:lpstr>
      <vt:lpstr>Aptos Light</vt:lpstr>
      <vt:lpstr>Arial</vt:lpstr>
      <vt:lpstr>Calibri</vt:lpstr>
      <vt:lpstr>Courier New</vt:lpstr>
      <vt:lpstr>Dubai</vt:lpstr>
      <vt:lpstr>Gill Sans MT</vt:lpstr>
      <vt:lpstr>Walbaum Display</vt:lpstr>
      <vt:lpstr>Wingdings</vt:lpstr>
      <vt:lpstr>BohoVogueVTI</vt:lpstr>
      <vt:lpstr>Data Visualization - Global Food Wastage</vt:lpstr>
      <vt:lpstr>Table of Contents</vt:lpstr>
      <vt:lpstr>Background - Food waste in Hong Kong</vt:lpstr>
      <vt:lpstr>Background – Global Food Waste</vt:lpstr>
      <vt:lpstr>PowerPoint Presentation</vt:lpstr>
      <vt:lpstr>Methodology</vt:lpstr>
      <vt:lpstr>Challenges, Limitations &amp; Future Work</vt:lpstr>
      <vt:lpstr>PowerPoint Presentation</vt:lpstr>
      <vt:lpstr>Reference</vt:lpstr>
      <vt:lpstr>End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HK</dc:creator>
  <cp:lastModifiedBy>Kwan w</cp:lastModifiedBy>
  <cp:revision>3</cp:revision>
  <dcterms:created xsi:type="dcterms:W3CDTF">2025-08-29T16:32:07Z</dcterms:created>
  <dcterms:modified xsi:type="dcterms:W3CDTF">2026-03-14T12:13:30Z</dcterms:modified>
</cp:coreProperties>
</file>